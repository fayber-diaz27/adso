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8288000" cy="10287000"/>
  <p:notesSz cx="6858000" cy="9144000"/>
  <p:embeddedFontLst>
    <p:embeddedFont>
      <p:font typeface="Open Sans" panose="020F0502020204030204" pitchFamily="34" charset="0"/>
      <p:regular r:id="rId9"/>
    </p:embeddedFont>
    <p:embeddedFont>
      <p:font typeface="Proxima Nova" panose="020B0604020202020204" charset="0"/>
      <p:regular r:id="rId10"/>
    </p:embeddedFont>
    <p:embeddedFont>
      <p:font typeface="Proxima Nova Bold" panose="020B0604020202020204" charset="0"/>
      <p:regular r:id="rId11"/>
    </p:embeddedFont>
    <p:embeddedFont>
      <p:font typeface="VT323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096110"/>
            <a:ext cx="16072096" cy="6737721"/>
            <a:chOff x="0" y="0"/>
            <a:chExt cx="4232980" cy="17745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2980" cy="1774544"/>
            </a:xfrm>
            <a:custGeom>
              <a:avLst/>
              <a:gdLst/>
              <a:ahLst/>
              <a:cxnLst/>
              <a:rect l="l" t="t" r="r" b="b"/>
              <a:pathLst>
                <a:path w="4232980" h="1774544">
                  <a:moveTo>
                    <a:pt x="19750" y="0"/>
                  </a:moveTo>
                  <a:lnTo>
                    <a:pt x="4213230" y="0"/>
                  </a:lnTo>
                  <a:cubicBezTo>
                    <a:pt x="4224138" y="0"/>
                    <a:pt x="4232980" y="8842"/>
                    <a:pt x="4232980" y="19750"/>
                  </a:cubicBezTo>
                  <a:lnTo>
                    <a:pt x="4232980" y="1754794"/>
                  </a:lnTo>
                  <a:cubicBezTo>
                    <a:pt x="4232980" y="1765702"/>
                    <a:pt x="4224138" y="1774544"/>
                    <a:pt x="4213230" y="1774544"/>
                  </a:cubicBezTo>
                  <a:lnTo>
                    <a:pt x="19750" y="1774544"/>
                  </a:lnTo>
                  <a:cubicBezTo>
                    <a:pt x="8842" y="1774544"/>
                    <a:pt x="0" y="1765702"/>
                    <a:pt x="0" y="1754794"/>
                  </a:cubicBezTo>
                  <a:lnTo>
                    <a:pt x="0" y="19750"/>
                  </a:lnTo>
                  <a:cubicBezTo>
                    <a:pt x="0" y="8842"/>
                    <a:pt x="8842" y="0"/>
                    <a:pt x="197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32980" cy="18126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376439" y="2670403"/>
            <a:ext cx="14976043" cy="1638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4"/>
              </a:lnSpc>
            </a:pPr>
            <a:r>
              <a:rPr lang="en-US" sz="600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PLAN DE </a:t>
            </a:r>
          </a:p>
          <a:p>
            <a:pPr algn="ctr">
              <a:lnSpc>
                <a:spcPts val="6304"/>
              </a:lnSpc>
            </a:pPr>
            <a:r>
              <a:rPr lang="en-US" sz="600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ACTIVIDADES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7854" y="4699313"/>
            <a:ext cx="18274068" cy="1945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779"/>
              </a:lnSpc>
            </a:pPr>
            <a:r>
              <a:rPr lang="en-US" sz="14075" dirty="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ANTOJO-VIRTUAL</a:t>
            </a:r>
          </a:p>
        </p:txBody>
      </p:sp>
      <p:sp>
        <p:nvSpPr>
          <p:cNvPr id="7" name="Freeform 7"/>
          <p:cNvSpPr/>
          <p:nvPr/>
        </p:nvSpPr>
        <p:spPr>
          <a:xfrm>
            <a:off x="15996678" y="6359885"/>
            <a:ext cx="2525244" cy="2898415"/>
          </a:xfrm>
          <a:custGeom>
            <a:avLst/>
            <a:gdLst/>
            <a:ahLst/>
            <a:cxnLst/>
            <a:rect l="l" t="t" r="r" b="b"/>
            <a:pathLst>
              <a:path w="2525244" h="2898415">
                <a:moveTo>
                  <a:pt x="0" y="0"/>
                </a:moveTo>
                <a:lnTo>
                  <a:pt x="2525244" y="0"/>
                </a:lnTo>
                <a:lnTo>
                  <a:pt x="2525244" y="2898415"/>
                </a:lnTo>
                <a:lnTo>
                  <a:pt x="0" y="2898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8" name="Group 8"/>
          <p:cNvGrpSpPr/>
          <p:nvPr/>
        </p:nvGrpSpPr>
        <p:grpSpPr>
          <a:xfrm>
            <a:off x="7922029" y="-91384"/>
            <a:ext cx="2499850" cy="249985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D18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213550" y="228091"/>
            <a:ext cx="1804992" cy="1804992"/>
          </a:xfrm>
          <a:custGeom>
            <a:avLst/>
            <a:gdLst/>
            <a:ahLst/>
            <a:cxnLst/>
            <a:rect l="l" t="t" r="r" b="b"/>
            <a:pathLst>
              <a:path w="1804992" h="1804992">
                <a:moveTo>
                  <a:pt x="0" y="0"/>
                </a:moveTo>
                <a:lnTo>
                  <a:pt x="1804992" y="0"/>
                </a:lnTo>
                <a:lnTo>
                  <a:pt x="1804992" y="1804992"/>
                </a:lnTo>
                <a:lnTo>
                  <a:pt x="0" y="1804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1376438" y="5253279"/>
            <a:ext cx="8642104" cy="30428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59"/>
              </a:lnSpc>
            </a:pPr>
            <a:r>
              <a:rPr lang="en-US" sz="3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Hecho</a:t>
            </a:r>
            <a:r>
              <a:rPr lang="en-US" sz="3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por</a:t>
            </a:r>
            <a:r>
              <a:rPr lang="en-US" sz="3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br>
              <a:rPr lang="en-US" sz="3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lang="en-US" sz="360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algn="just">
              <a:lnSpc>
                <a:spcPts val="3079"/>
              </a:lnSpc>
            </a:pPr>
            <a:r>
              <a:rPr lang="en-US" sz="3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SONIA ALEXANDRA SOLORZANO RAMOS</a:t>
            </a:r>
            <a:br>
              <a:rPr lang="en-US" sz="3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lang="en-US" sz="360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algn="just">
              <a:lnSpc>
                <a:spcPts val="3079"/>
              </a:lnSpc>
            </a:pPr>
            <a:r>
              <a:rPr lang="en-US" sz="3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FAYBER ESTYBEN DIAZ TIERRADENTRO</a:t>
            </a:r>
            <a:br>
              <a:rPr lang="en-US" sz="3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lang="en-US" sz="3600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LUIGER DALIETH LEDEZMA ASPRILLA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1636966" y="1419750"/>
            <a:ext cx="14180831" cy="5290757"/>
            <a:chOff x="0" y="0"/>
            <a:chExt cx="18907774" cy="7054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257175"/>
              <a:ext cx="18758686" cy="2897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920"/>
                </a:lnSpc>
                <a:spcBef>
                  <a:spcPct val="0"/>
                </a:spcBef>
              </a:pPr>
              <a:r>
                <a:rPr lang="en-US" sz="9000">
                  <a:solidFill>
                    <a:srgbClr val="FFFFFF"/>
                  </a:solidFill>
                  <a:latin typeface="VT323"/>
                  <a:ea typeface="VT323"/>
                  <a:cs typeface="VT323"/>
                  <a:sym typeface="VT323"/>
                </a:rPr>
                <a:t>¿QUE ES UN PLAN DE ACTIVIDADES?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49088" y="3531997"/>
              <a:ext cx="18758686" cy="35223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79"/>
                </a:lnSpc>
              </a:pPr>
              <a:r>
                <a:rPr lang="en-US" sz="399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Es un documento donde se organizaran las actividades necesarias para comprender las necesidades del cliente, identificar los requisitos y definir cómo se desarrollará el software.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4255264" y="7080321"/>
            <a:ext cx="3851866" cy="3206679"/>
          </a:xfrm>
          <a:custGeom>
            <a:avLst/>
            <a:gdLst/>
            <a:ahLst/>
            <a:cxnLst/>
            <a:rect l="l" t="t" r="r" b="b"/>
            <a:pathLst>
              <a:path w="3851866" h="3206679">
                <a:moveTo>
                  <a:pt x="0" y="0"/>
                </a:moveTo>
                <a:lnTo>
                  <a:pt x="3851867" y="0"/>
                </a:lnTo>
                <a:lnTo>
                  <a:pt x="3851867" y="3206679"/>
                </a:lnTo>
                <a:lnTo>
                  <a:pt x="0" y="32066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773283" y="7703538"/>
            <a:ext cx="13817429" cy="1884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Objetivo: Organizar las tareas de análisis para garantizar que el proyecto cumpla con los requisitos del cliente.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endParaRPr lang="en-US" sz="3899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87497" y="0"/>
            <a:ext cx="6700503" cy="10287000"/>
            <a:chOff x="0" y="0"/>
            <a:chExt cx="8934004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11585" b="11585"/>
            <a:stretch>
              <a:fillRect/>
            </a:stretch>
          </p:blipFill>
          <p:spPr>
            <a:xfrm>
              <a:off x="0" y="0"/>
              <a:ext cx="8934004" cy="4487333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t="12341" b="12341"/>
            <a:stretch>
              <a:fillRect/>
            </a:stretch>
          </p:blipFill>
          <p:spPr>
            <a:xfrm>
              <a:off x="0" y="4614333"/>
              <a:ext cx="8934004" cy="4487333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t="12341" b="12341"/>
            <a:stretch>
              <a:fillRect/>
            </a:stretch>
          </p:blipFill>
          <p:spPr>
            <a:xfrm>
              <a:off x="0" y="9228667"/>
              <a:ext cx="8934004" cy="4487333"/>
            </a:xfrm>
            <a:prstGeom prst="rect">
              <a:avLst/>
            </a:prstGeom>
          </p:spPr>
        </p:pic>
      </p:grpSp>
      <p:sp>
        <p:nvSpPr>
          <p:cNvPr id="6" name="TextBox 6"/>
          <p:cNvSpPr txBox="1"/>
          <p:nvPr/>
        </p:nvSpPr>
        <p:spPr>
          <a:xfrm>
            <a:off x="665299" y="607447"/>
            <a:ext cx="10055625" cy="210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MODELO DE DESAROLLO SELECCIONADO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73943" y="3622792"/>
            <a:ext cx="11313553" cy="5300061"/>
            <a:chOff x="0" y="0"/>
            <a:chExt cx="15084738" cy="7066748"/>
          </a:xfrm>
        </p:grpSpPr>
        <p:sp>
          <p:nvSpPr>
            <p:cNvPr id="8" name="TextBox 8"/>
            <p:cNvSpPr txBox="1"/>
            <p:nvPr/>
          </p:nvSpPr>
          <p:spPr>
            <a:xfrm>
              <a:off x="0" y="1112861"/>
              <a:ext cx="15084738" cy="5953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34063" lvl="1" indent="-367031" algn="l">
                <a:lnSpc>
                  <a:spcPts val="4488"/>
                </a:lnSpc>
                <a:buFont typeface="Arial"/>
                <a:buChar char="•"/>
              </a:pPr>
              <a:r>
                <a:rPr lang="en-US" sz="34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Se eligio  SCRUM como metodología de desarrollo porque permite gestionar el proyecto de manera ágil y organizada, adaptándose fácilmente a los cambios que puedan surgir durante el proceso. </a:t>
              </a:r>
            </a:p>
            <a:p>
              <a:pPr marL="734063" lvl="1" indent="-367031" algn="l">
                <a:lnSpc>
                  <a:spcPts val="4488"/>
                </a:lnSpc>
                <a:buFont typeface="Arial"/>
                <a:buChar char="•"/>
              </a:pPr>
              <a:r>
                <a:rPr lang="en-US" sz="3400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Scrum divide el trabajo en Sprints, lo que permite entregar funcionalidades de forma incremental y obtener resultados funcionales en periodos cortos. </a:t>
              </a:r>
            </a:p>
            <a:p>
              <a:pPr algn="l">
                <a:lnSpc>
                  <a:spcPts val="4488"/>
                </a:lnSpc>
              </a:pPr>
              <a:endParaRPr lang="en-US" sz="34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5084738" cy="855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sz="3999">
                  <a:solidFill>
                    <a:srgbClr val="FFFFFF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SCRUM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7557" y="-189742"/>
            <a:ext cx="5502110" cy="4360422"/>
          </a:xfrm>
          <a:custGeom>
            <a:avLst/>
            <a:gdLst/>
            <a:ahLst/>
            <a:cxnLst/>
            <a:rect l="l" t="t" r="r" b="b"/>
            <a:pathLst>
              <a:path w="5502110" h="4360422">
                <a:moveTo>
                  <a:pt x="0" y="0"/>
                </a:moveTo>
                <a:lnTo>
                  <a:pt x="5502110" y="0"/>
                </a:lnTo>
                <a:lnTo>
                  <a:pt x="5502110" y="4360423"/>
                </a:lnTo>
                <a:lnTo>
                  <a:pt x="0" y="4360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5482032" y="702903"/>
            <a:ext cx="11984076" cy="210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90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ANALISIS DEL DESAROLLO DE PLAN DE ACTIVIDADES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33618" y="2958458"/>
            <a:ext cx="9157033" cy="5282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1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Es una plataforma web y móvil que permite:</a:t>
            </a:r>
          </a:p>
          <a:p>
            <a:pPr marL="686836" lvl="1" indent="-343418" algn="l">
              <a:lnSpc>
                <a:spcPts val="4199"/>
              </a:lnSpc>
              <a:buFont typeface="Arial"/>
              <a:buChar char="•"/>
            </a:pPr>
            <a:r>
              <a:rPr lang="en-US" sz="31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Registrar usuarios.</a:t>
            </a:r>
          </a:p>
          <a:p>
            <a:pPr marL="686836" lvl="1" indent="-343418" algn="l">
              <a:lnSpc>
                <a:spcPts val="4199"/>
              </a:lnSpc>
              <a:buFont typeface="Arial"/>
              <a:buChar char="•"/>
            </a:pPr>
            <a:r>
              <a:rPr lang="en-US" sz="31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Registrar emprendimientos.</a:t>
            </a:r>
          </a:p>
          <a:p>
            <a:pPr marL="686836" lvl="1" indent="-343418" algn="l">
              <a:lnSpc>
                <a:spcPts val="4199"/>
              </a:lnSpc>
              <a:buFont typeface="Arial"/>
              <a:buChar char="•"/>
            </a:pPr>
            <a:r>
              <a:rPr lang="en-US" sz="31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Consultar productos.</a:t>
            </a:r>
          </a:p>
          <a:p>
            <a:pPr marL="686836" lvl="1" indent="-343418" algn="l">
              <a:lnSpc>
                <a:spcPts val="4199"/>
              </a:lnSpc>
              <a:buFont typeface="Arial"/>
              <a:buChar char="•"/>
            </a:pPr>
            <a:r>
              <a:rPr lang="en-US" sz="31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Personalizar pedidos.</a:t>
            </a:r>
          </a:p>
          <a:p>
            <a:pPr marL="686836" lvl="1" indent="-343418" algn="l">
              <a:lnSpc>
                <a:spcPts val="4199"/>
              </a:lnSpc>
              <a:buFont typeface="Arial"/>
              <a:buChar char="•"/>
            </a:pPr>
            <a:r>
              <a:rPr lang="en-US" sz="31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Realizar pagos.</a:t>
            </a:r>
          </a:p>
          <a:p>
            <a:pPr marL="686836" lvl="1" indent="-343418" algn="l">
              <a:lnSpc>
                <a:spcPts val="4199"/>
              </a:lnSpc>
              <a:buFont typeface="Arial"/>
              <a:buChar char="•"/>
            </a:pPr>
            <a:r>
              <a:rPr lang="en-US" sz="31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Calificar los negocios.</a:t>
            </a:r>
          </a:p>
          <a:p>
            <a:pPr algn="l">
              <a:lnSpc>
                <a:spcPts val="4199"/>
              </a:lnSpc>
            </a:pPr>
            <a:r>
              <a:rPr lang="en-US" sz="3181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Estas características permiten definir los requisitos del sistema.</a:t>
            </a:r>
          </a:p>
          <a:p>
            <a:pPr algn="l">
              <a:lnSpc>
                <a:spcPts val="4199"/>
              </a:lnSpc>
            </a:pPr>
            <a:endParaRPr lang="en-US" sz="3181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833737" y="4828767"/>
            <a:ext cx="5006583" cy="5128382"/>
          </a:xfrm>
          <a:custGeom>
            <a:avLst/>
            <a:gdLst/>
            <a:ahLst/>
            <a:cxnLst/>
            <a:rect l="l" t="t" r="r" b="b"/>
            <a:pathLst>
              <a:path w="5006583" h="5128382">
                <a:moveTo>
                  <a:pt x="0" y="0"/>
                </a:moveTo>
                <a:lnTo>
                  <a:pt x="5006583" y="0"/>
                </a:lnTo>
                <a:lnTo>
                  <a:pt x="5006583" y="5128382"/>
                </a:lnTo>
                <a:lnTo>
                  <a:pt x="0" y="512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08390" y="1593375"/>
          <a:ext cx="11899648" cy="8382765"/>
        </p:xfrm>
        <a:graphic>
          <a:graphicData uri="http://schemas.openxmlformats.org/drawingml/2006/table">
            <a:tbl>
              <a:tblPr/>
              <a:tblGrid>
                <a:gridCol w="44857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3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59664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CARACTERISTICAS DEL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ACTIVIDAD DE ANALISIS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48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Registro de usuarios.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Levantamiento y validacion de los requisitos.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09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Registro de negocios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Elaboracion de historias de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317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Gestion de productos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Modelado de casos de uso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317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Busqueda y filtros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Análisis de requisitos funcionales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317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Pedidos personalizados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Priorización en el product Backlog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218035" y="257175"/>
            <a:ext cx="14499932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90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RELACION CON EL PROYECTO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89126" y="245989"/>
          <a:ext cx="17825886" cy="10132129"/>
        </p:xfrm>
        <a:graphic>
          <a:graphicData uri="http://schemas.openxmlformats.org/drawingml/2006/table">
            <a:tbl>
              <a:tblPr/>
              <a:tblGrid>
                <a:gridCol w="2458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2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4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3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46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049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95899"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N°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ACTIVIDAD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DESCRIPCION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1">
                          <a:solidFill>
                            <a:srgbClr val="000000"/>
                          </a:solidFill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RESPONSABLE/S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DURACION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Proxima Nova Bold"/>
                          <a:ea typeface="Proxima Nova Bold"/>
                          <a:cs typeface="Proxima Nova Bold"/>
                          <a:sym typeface="Proxima Nova Bold"/>
                        </a:rPr>
                        <a:t>ENTREGABLE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8098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Levantar requisitos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Identificar clientes, usuarios y negocios que interactuarán con el sistema.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EQUIPO DEL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 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Lista de requisitos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5899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Clasificar requisitos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Separar los requisitos en funcionales y no funcionales.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EQUIPO DEL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 DIAS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Documento de requisitos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2728"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Elaborar HU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Redactar las historias de usuario y definir sus criterios de aceptación.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EQUIPO DEL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 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sz="26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Historias de usuario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1410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Modelar los procesos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Elaborar diagramas de casos de uso y de actividades del sistema.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EQUIPO DEL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 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Diagramas UML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8094">
                <a:tc>
                  <a:txBody>
                    <a:bodyPr/>
                    <a:lstStyle/>
                    <a:p>
                      <a:pPr algn="ctr">
                        <a:lnSpc>
                          <a:spcPts val="4200"/>
                        </a:lnSpc>
                        <a:defRPr/>
                      </a:pPr>
                      <a:r>
                        <a:rPr lang="en-US" sz="3000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5°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Elaborar el documento SRS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Organizar toda la información de requisitos recolectados.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EQUIPO DEL PROYECTO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 DIAS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Validar SRS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1215082" y="2424116"/>
            <a:ext cx="16072096" cy="6094780"/>
            <a:chOff x="0" y="0"/>
            <a:chExt cx="4232980" cy="16052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32980" cy="1605210"/>
            </a:xfrm>
            <a:custGeom>
              <a:avLst/>
              <a:gdLst/>
              <a:ahLst/>
              <a:cxnLst/>
              <a:rect l="l" t="t" r="r" b="b"/>
              <a:pathLst>
                <a:path w="4232980" h="1605210">
                  <a:moveTo>
                    <a:pt x="19750" y="0"/>
                  </a:moveTo>
                  <a:lnTo>
                    <a:pt x="4213230" y="0"/>
                  </a:lnTo>
                  <a:cubicBezTo>
                    <a:pt x="4224138" y="0"/>
                    <a:pt x="4232980" y="8842"/>
                    <a:pt x="4232980" y="19750"/>
                  </a:cubicBezTo>
                  <a:lnTo>
                    <a:pt x="4232980" y="1585460"/>
                  </a:lnTo>
                  <a:cubicBezTo>
                    <a:pt x="4232980" y="1596367"/>
                    <a:pt x="4224138" y="1605210"/>
                    <a:pt x="4213230" y="1605210"/>
                  </a:cubicBezTo>
                  <a:lnTo>
                    <a:pt x="19750" y="1605210"/>
                  </a:lnTo>
                  <a:cubicBezTo>
                    <a:pt x="8842" y="1605210"/>
                    <a:pt x="0" y="1596367"/>
                    <a:pt x="0" y="1585460"/>
                  </a:cubicBezTo>
                  <a:lnTo>
                    <a:pt x="0" y="19750"/>
                  </a:lnTo>
                  <a:cubicBezTo>
                    <a:pt x="0" y="8842"/>
                    <a:pt x="8842" y="0"/>
                    <a:pt x="1975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32980" cy="16433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22524" y="4779305"/>
            <a:ext cx="14976043" cy="1665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4"/>
              </a:lnSpc>
            </a:pPr>
            <a:r>
              <a:rPr lang="en-US" sz="8800" b="1" dirty="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MUCHAS GRACIAS POR LA ATENCIÓN</a:t>
            </a:r>
          </a:p>
        </p:txBody>
      </p:sp>
      <p:sp>
        <p:nvSpPr>
          <p:cNvPr id="8" name="Freeform 8"/>
          <p:cNvSpPr/>
          <p:nvPr/>
        </p:nvSpPr>
        <p:spPr>
          <a:xfrm>
            <a:off x="15996678" y="6359885"/>
            <a:ext cx="2525244" cy="2898415"/>
          </a:xfrm>
          <a:custGeom>
            <a:avLst/>
            <a:gdLst/>
            <a:ahLst/>
            <a:cxnLst/>
            <a:rect l="l" t="t" r="r" b="b"/>
            <a:pathLst>
              <a:path w="2525244" h="2898415">
                <a:moveTo>
                  <a:pt x="0" y="0"/>
                </a:moveTo>
                <a:lnTo>
                  <a:pt x="2525244" y="0"/>
                </a:lnTo>
                <a:lnTo>
                  <a:pt x="2525244" y="2898415"/>
                </a:lnTo>
                <a:lnTo>
                  <a:pt x="0" y="2898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9" name="Group 9"/>
          <p:cNvGrpSpPr/>
          <p:nvPr/>
        </p:nvGrpSpPr>
        <p:grpSpPr>
          <a:xfrm>
            <a:off x="7894075" y="691326"/>
            <a:ext cx="2499850" cy="249985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0D18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241504" y="1038755"/>
            <a:ext cx="1804992" cy="1804992"/>
          </a:xfrm>
          <a:custGeom>
            <a:avLst/>
            <a:gdLst/>
            <a:ahLst/>
            <a:cxnLst/>
            <a:rect l="l" t="t" r="r" b="b"/>
            <a:pathLst>
              <a:path w="1804992" h="1804992">
                <a:moveTo>
                  <a:pt x="0" y="0"/>
                </a:moveTo>
                <a:lnTo>
                  <a:pt x="1804992" y="0"/>
                </a:lnTo>
                <a:lnTo>
                  <a:pt x="1804992" y="1804992"/>
                </a:lnTo>
                <a:lnTo>
                  <a:pt x="0" y="1804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357</Words>
  <Application>Microsoft Office PowerPoint</Application>
  <PresentationFormat>Personalizado</PresentationFormat>
  <Paragraphs>73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Proxima Nova Bold</vt:lpstr>
      <vt:lpstr>Calibri</vt:lpstr>
      <vt:lpstr>Arial</vt:lpstr>
      <vt:lpstr>VT323</vt:lpstr>
      <vt:lpstr>Proxima Nova</vt:lpstr>
      <vt:lpstr>Open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Tecnología Digital Dispositivos Inteligencia Artificial Innovación Moderno Azul Negro</dc:title>
  <cp:lastModifiedBy>SENA</cp:lastModifiedBy>
  <cp:revision>2</cp:revision>
  <dcterms:created xsi:type="dcterms:W3CDTF">2006-08-16T00:00:00Z</dcterms:created>
  <dcterms:modified xsi:type="dcterms:W3CDTF">2026-08-18T18:14:34Z</dcterms:modified>
  <dc:identifier>DAHQDGngrck</dc:identifier>
</cp:coreProperties>
</file>