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Montaser Arabic Heavy" charset="1" panose="00000A00000000000000"/>
      <p:regular r:id="rId15"/>
    </p:embeddedFont>
    <p:embeddedFont>
      <p:font typeface="Mardoto Heavy" charset="1" panose="00000A00000000000000"/>
      <p:regular r:id="rId16"/>
    </p:embeddedFont>
    <p:embeddedFont>
      <p:font typeface="Mardoto" charset="1" panose="00000500000000000000"/>
      <p:regular r:id="rId17"/>
    </p:embeddedFont>
    <p:embeddedFont>
      <p:font typeface="Montaser Arabic Bold" charset="1" panose="00000800000000000000"/>
      <p:regular r:id="rId18"/>
    </p:embeddedFont>
    <p:embeddedFont>
      <p:font typeface="Montaser Arabic" charset="1" panose="000005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grpSp>
        <p:nvGrpSpPr>
          <p:cNvPr name="Group 2" id="2"/>
          <p:cNvGrpSpPr/>
          <p:nvPr/>
        </p:nvGrpSpPr>
        <p:grpSpPr>
          <a:xfrm rot="0">
            <a:off x="1761209" y="1694718"/>
            <a:ext cx="14767578" cy="6897563"/>
            <a:chOff x="0" y="0"/>
            <a:chExt cx="3889403" cy="1816642"/>
          </a:xfrm>
        </p:grpSpPr>
        <p:sp>
          <p:nvSpPr>
            <p:cNvPr name="Freeform 3" id="3"/>
            <p:cNvSpPr/>
            <p:nvPr/>
          </p:nvSpPr>
          <p:spPr>
            <a:xfrm flipH="false" flipV="false" rot="0">
              <a:off x="0" y="0"/>
              <a:ext cx="3889403" cy="1816642"/>
            </a:xfrm>
            <a:custGeom>
              <a:avLst/>
              <a:gdLst/>
              <a:ahLst/>
              <a:cxnLst/>
              <a:rect r="r" b="b" t="t" l="l"/>
              <a:pathLst>
                <a:path h="1816642" w="3889403">
                  <a:moveTo>
                    <a:pt x="0" y="0"/>
                  </a:moveTo>
                  <a:lnTo>
                    <a:pt x="3889403" y="0"/>
                  </a:lnTo>
                  <a:lnTo>
                    <a:pt x="3889403" y="1816642"/>
                  </a:lnTo>
                  <a:lnTo>
                    <a:pt x="0" y="1816642"/>
                  </a:lnTo>
                  <a:close/>
                </a:path>
              </a:pathLst>
            </a:custGeom>
            <a:ln w="104775" cap="sq">
              <a:solidFill>
                <a:srgbClr val="2B326B"/>
              </a:solidFill>
              <a:prstDash val="solid"/>
              <a:miter/>
            </a:ln>
          </p:spPr>
        </p:sp>
        <p:sp>
          <p:nvSpPr>
            <p:cNvPr name="TextBox 4" id="4"/>
            <p:cNvSpPr txBox="true"/>
            <p:nvPr/>
          </p:nvSpPr>
          <p:spPr>
            <a:xfrm>
              <a:off x="0" y="-47625"/>
              <a:ext cx="3889403" cy="186426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760233" y="-877303"/>
            <a:ext cx="2788933" cy="12041606"/>
            <a:chOff x="0" y="0"/>
            <a:chExt cx="734534" cy="3171452"/>
          </a:xfrm>
        </p:grpSpPr>
        <p:sp>
          <p:nvSpPr>
            <p:cNvPr name="Freeform 6" id="6"/>
            <p:cNvSpPr/>
            <p:nvPr/>
          </p:nvSpPr>
          <p:spPr>
            <a:xfrm flipH="false" flipV="false" rot="0">
              <a:off x="0" y="0"/>
              <a:ext cx="734534" cy="3171452"/>
            </a:xfrm>
            <a:custGeom>
              <a:avLst/>
              <a:gdLst/>
              <a:ahLst/>
              <a:cxnLst/>
              <a:rect r="r" b="b" t="t" l="l"/>
              <a:pathLst>
                <a:path h="3171452" w="734534">
                  <a:moveTo>
                    <a:pt x="0" y="0"/>
                  </a:moveTo>
                  <a:lnTo>
                    <a:pt x="734534" y="0"/>
                  </a:lnTo>
                  <a:lnTo>
                    <a:pt x="734534" y="3171452"/>
                  </a:lnTo>
                  <a:lnTo>
                    <a:pt x="0" y="3171452"/>
                  </a:lnTo>
                  <a:close/>
                </a:path>
              </a:pathLst>
            </a:custGeom>
            <a:solidFill>
              <a:srgbClr val="2B326B"/>
            </a:solidFill>
          </p:spPr>
        </p:sp>
        <p:sp>
          <p:nvSpPr>
            <p:cNvPr name="TextBox 7" id="7"/>
            <p:cNvSpPr txBox="true"/>
            <p:nvPr/>
          </p:nvSpPr>
          <p:spPr>
            <a:xfrm>
              <a:off x="0" y="-47625"/>
              <a:ext cx="734534" cy="3219077"/>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10800000">
            <a:off x="16717831" y="-1402017"/>
            <a:ext cx="4046056" cy="2430717"/>
            <a:chOff x="0" y="0"/>
            <a:chExt cx="1065628" cy="640189"/>
          </a:xfrm>
        </p:grpSpPr>
        <p:sp>
          <p:nvSpPr>
            <p:cNvPr name="Freeform 9" id="9"/>
            <p:cNvSpPr/>
            <p:nvPr/>
          </p:nvSpPr>
          <p:spPr>
            <a:xfrm flipH="false" flipV="false" rot="0">
              <a:off x="0" y="0"/>
              <a:ext cx="1065628" cy="640189"/>
            </a:xfrm>
            <a:custGeom>
              <a:avLst/>
              <a:gdLst/>
              <a:ahLst/>
              <a:cxnLst/>
              <a:rect r="r" b="b" t="t" l="l"/>
              <a:pathLst>
                <a:path h="640189" w="1065628">
                  <a:moveTo>
                    <a:pt x="0" y="0"/>
                  </a:moveTo>
                  <a:lnTo>
                    <a:pt x="1065628" y="0"/>
                  </a:lnTo>
                  <a:lnTo>
                    <a:pt x="1065628" y="640189"/>
                  </a:lnTo>
                  <a:lnTo>
                    <a:pt x="0" y="640189"/>
                  </a:lnTo>
                  <a:close/>
                </a:path>
              </a:pathLst>
            </a:custGeom>
            <a:solidFill>
              <a:srgbClr val="2B326B"/>
            </a:solidFill>
          </p:spPr>
        </p:sp>
        <p:sp>
          <p:nvSpPr>
            <p:cNvPr name="TextBox 10" id="10"/>
            <p:cNvSpPr txBox="true"/>
            <p:nvPr/>
          </p:nvSpPr>
          <p:spPr>
            <a:xfrm>
              <a:off x="0" y="-47625"/>
              <a:ext cx="1065628" cy="687814"/>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5083592" y="7768317"/>
            <a:ext cx="1445195" cy="1445195"/>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2B326B"/>
            </a:solidFill>
          </p:spPr>
        </p:sp>
        <p:sp>
          <p:nvSpPr>
            <p:cNvPr name="TextBox 13" id="13"/>
            <p:cNvSpPr txBox="true"/>
            <p:nvPr/>
          </p:nvSpPr>
          <p:spPr>
            <a:xfrm>
              <a:off x="0" y="-47625"/>
              <a:ext cx="812800" cy="860425"/>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548500" y="741664"/>
            <a:ext cx="204131" cy="1145622"/>
            <a:chOff x="0" y="0"/>
            <a:chExt cx="272175" cy="1527496"/>
          </a:xfrm>
        </p:grpSpPr>
        <p:grpSp>
          <p:nvGrpSpPr>
            <p:cNvPr name="Group 15" id="15"/>
            <p:cNvGrpSpPr/>
            <p:nvPr/>
          </p:nvGrpSpPr>
          <p:grpSpPr>
            <a:xfrm rot="0">
              <a:off x="0" y="0"/>
              <a:ext cx="272175" cy="272175"/>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DEDED"/>
              </a:solidFill>
            </p:spPr>
          </p:sp>
          <p:sp>
            <p:nvSpPr>
              <p:cNvPr name="TextBox 17" id="17"/>
              <p:cNvSpPr txBox="true"/>
              <p:nvPr/>
            </p:nvSpPr>
            <p:spPr>
              <a:xfrm>
                <a:off x="76200" y="28575"/>
                <a:ext cx="660400" cy="708025"/>
              </a:xfrm>
              <a:prstGeom prst="rect">
                <a:avLst/>
              </a:prstGeom>
            </p:spPr>
            <p:txBody>
              <a:bodyPr anchor="ctr" rtlCol="false" tIns="114559" lIns="114559" bIns="114559" rIns="114559"/>
              <a:lstStyle/>
              <a:p>
                <a:pPr algn="ctr">
                  <a:lnSpc>
                    <a:spcPts val="2660"/>
                  </a:lnSpc>
                </a:pPr>
              </a:p>
            </p:txBody>
          </p:sp>
        </p:grpSp>
        <p:grpSp>
          <p:nvGrpSpPr>
            <p:cNvPr name="Group 18" id="18"/>
            <p:cNvGrpSpPr/>
            <p:nvPr/>
          </p:nvGrpSpPr>
          <p:grpSpPr>
            <a:xfrm rot="0">
              <a:off x="0" y="627661"/>
              <a:ext cx="272175" cy="272175"/>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DEDED"/>
              </a:solidFill>
            </p:spPr>
          </p:sp>
          <p:sp>
            <p:nvSpPr>
              <p:cNvPr name="TextBox 20" id="20"/>
              <p:cNvSpPr txBox="true"/>
              <p:nvPr/>
            </p:nvSpPr>
            <p:spPr>
              <a:xfrm>
                <a:off x="76200" y="28575"/>
                <a:ext cx="660400" cy="708025"/>
              </a:xfrm>
              <a:prstGeom prst="rect">
                <a:avLst/>
              </a:prstGeom>
            </p:spPr>
            <p:txBody>
              <a:bodyPr anchor="ctr" rtlCol="false" tIns="114559" lIns="114559" bIns="114559" rIns="114559"/>
              <a:lstStyle/>
              <a:p>
                <a:pPr algn="ctr">
                  <a:lnSpc>
                    <a:spcPts val="2660"/>
                  </a:lnSpc>
                </a:pPr>
              </a:p>
            </p:txBody>
          </p:sp>
        </p:grpSp>
        <p:grpSp>
          <p:nvGrpSpPr>
            <p:cNvPr name="Group 21" id="21"/>
            <p:cNvGrpSpPr/>
            <p:nvPr/>
          </p:nvGrpSpPr>
          <p:grpSpPr>
            <a:xfrm rot="0">
              <a:off x="0" y="1255321"/>
              <a:ext cx="272175" cy="272175"/>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DEDED"/>
              </a:solidFill>
            </p:spPr>
          </p:sp>
          <p:sp>
            <p:nvSpPr>
              <p:cNvPr name="TextBox 23" id="23"/>
              <p:cNvSpPr txBox="true"/>
              <p:nvPr/>
            </p:nvSpPr>
            <p:spPr>
              <a:xfrm>
                <a:off x="76200" y="28575"/>
                <a:ext cx="660400" cy="708025"/>
              </a:xfrm>
              <a:prstGeom prst="rect">
                <a:avLst/>
              </a:prstGeom>
            </p:spPr>
            <p:txBody>
              <a:bodyPr anchor="ctr" rtlCol="false" tIns="114559" lIns="114559" bIns="114559" rIns="114559"/>
              <a:lstStyle/>
              <a:p>
                <a:pPr algn="ctr">
                  <a:lnSpc>
                    <a:spcPts val="2660"/>
                  </a:lnSpc>
                </a:pPr>
              </a:p>
            </p:txBody>
          </p:sp>
        </p:grpSp>
      </p:grpSp>
      <p:grpSp>
        <p:nvGrpSpPr>
          <p:cNvPr name="Group 24" id="24"/>
          <p:cNvGrpSpPr/>
          <p:nvPr/>
        </p:nvGrpSpPr>
        <p:grpSpPr>
          <a:xfrm rot="5400000">
            <a:off x="16999532" y="-87300"/>
            <a:ext cx="204131" cy="1145622"/>
            <a:chOff x="0" y="0"/>
            <a:chExt cx="272175" cy="1527496"/>
          </a:xfrm>
        </p:grpSpPr>
        <p:grpSp>
          <p:nvGrpSpPr>
            <p:cNvPr name="Group 25" id="25"/>
            <p:cNvGrpSpPr/>
            <p:nvPr/>
          </p:nvGrpSpPr>
          <p:grpSpPr>
            <a:xfrm rot="0">
              <a:off x="0" y="0"/>
              <a:ext cx="272175" cy="272175"/>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DEDED"/>
              </a:solidFill>
            </p:spPr>
          </p:sp>
          <p:sp>
            <p:nvSpPr>
              <p:cNvPr name="TextBox 27" id="27"/>
              <p:cNvSpPr txBox="true"/>
              <p:nvPr/>
            </p:nvSpPr>
            <p:spPr>
              <a:xfrm>
                <a:off x="76200" y="28575"/>
                <a:ext cx="660400" cy="708025"/>
              </a:xfrm>
              <a:prstGeom prst="rect">
                <a:avLst/>
              </a:prstGeom>
            </p:spPr>
            <p:txBody>
              <a:bodyPr anchor="ctr" rtlCol="false" tIns="114559" lIns="114559" bIns="114559" rIns="114559"/>
              <a:lstStyle/>
              <a:p>
                <a:pPr algn="ctr">
                  <a:lnSpc>
                    <a:spcPts val="2660"/>
                  </a:lnSpc>
                </a:pPr>
              </a:p>
            </p:txBody>
          </p:sp>
        </p:grpSp>
        <p:grpSp>
          <p:nvGrpSpPr>
            <p:cNvPr name="Group 28" id="28"/>
            <p:cNvGrpSpPr/>
            <p:nvPr/>
          </p:nvGrpSpPr>
          <p:grpSpPr>
            <a:xfrm rot="0">
              <a:off x="0" y="627661"/>
              <a:ext cx="272175" cy="272175"/>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DEDED"/>
              </a:solidFill>
            </p:spPr>
          </p:sp>
          <p:sp>
            <p:nvSpPr>
              <p:cNvPr name="TextBox 30" id="30"/>
              <p:cNvSpPr txBox="true"/>
              <p:nvPr/>
            </p:nvSpPr>
            <p:spPr>
              <a:xfrm>
                <a:off x="76200" y="28575"/>
                <a:ext cx="660400" cy="708025"/>
              </a:xfrm>
              <a:prstGeom prst="rect">
                <a:avLst/>
              </a:prstGeom>
            </p:spPr>
            <p:txBody>
              <a:bodyPr anchor="ctr" rtlCol="false" tIns="114559" lIns="114559" bIns="114559" rIns="114559"/>
              <a:lstStyle/>
              <a:p>
                <a:pPr algn="ctr">
                  <a:lnSpc>
                    <a:spcPts val="2660"/>
                  </a:lnSpc>
                </a:pPr>
              </a:p>
            </p:txBody>
          </p:sp>
        </p:grpSp>
        <p:grpSp>
          <p:nvGrpSpPr>
            <p:cNvPr name="Group 31" id="31"/>
            <p:cNvGrpSpPr/>
            <p:nvPr/>
          </p:nvGrpSpPr>
          <p:grpSpPr>
            <a:xfrm rot="0">
              <a:off x="0" y="1255321"/>
              <a:ext cx="272175" cy="272175"/>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DEDED"/>
              </a:solidFill>
            </p:spPr>
          </p:sp>
          <p:sp>
            <p:nvSpPr>
              <p:cNvPr name="TextBox 33" id="33"/>
              <p:cNvSpPr txBox="true"/>
              <p:nvPr/>
            </p:nvSpPr>
            <p:spPr>
              <a:xfrm>
                <a:off x="76200" y="28575"/>
                <a:ext cx="660400" cy="708025"/>
              </a:xfrm>
              <a:prstGeom prst="rect">
                <a:avLst/>
              </a:prstGeom>
            </p:spPr>
            <p:txBody>
              <a:bodyPr anchor="ctr" rtlCol="false" tIns="114559" lIns="114559" bIns="114559" rIns="114559"/>
              <a:lstStyle/>
              <a:p>
                <a:pPr algn="ctr">
                  <a:lnSpc>
                    <a:spcPts val="2660"/>
                  </a:lnSpc>
                </a:pPr>
              </a:p>
            </p:txBody>
          </p:sp>
        </p:grpSp>
      </p:grpSp>
      <p:sp>
        <p:nvSpPr>
          <p:cNvPr name="TextBox 34" id="34"/>
          <p:cNvSpPr txBox="true"/>
          <p:nvPr/>
        </p:nvSpPr>
        <p:spPr>
          <a:xfrm rot="0">
            <a:off x="2112780" y="2979569"/>
            <a:ext cx="14103844" cy="3731895"/>
          </a:xfrm>
          <a:prstGeom prst="rect">
            <a:avLst/>
          </a:prstGeom>
        </p:spPr>
        <p:txBody>
          <a:bodyPr anchor="t" rtlCol="false" tIns="0" lIns="0" bIns="0" rIns="0">
            <a:spAutoFit/>
          </a:bodyPr>
          <a:lstStyle/>
          <a:p>
            <a:pPr algn="ctr">
              <a:lnSpc>
                <a:spcPts val="9840"/>
              </a:lnSpc>
            </a:pPr>
            <a:r>
              <a:rPr lang="en-US" b="true" sz="8000">
                <a:solidFill>
                  <a:srgbClr val="191C59"/>
                </a:solidFill>
                <a:latin typeface="Montaser Arabic Heavy"/>
                <a:ea typeface="Montaser Arabic Heavy"/>
                <a:cs typeface="Montaser Arabic Heavy"/>
                <a:sym typeface="Montaser Arabic Heavy"/>
              </a:rPr>
              <a:t>DESARROLLO DE SOFTWARE ORIENTADO A SERVICIOS </a:t>
            </a:r>
          </a:p>
        </p:txBody>
      </p:sp>
      <p:sp>
        <p:nvSpPr>
          <p:cNvPr name="Freeform 35" id="35"/>
          <p:cNvSpPr/>
          <p:nvPr/>
        </p:nvSpPr>
        <p:spPr>
          <a:xfrm flipH="false" flipV="false" rot="0">
            <a:off x="12030838" y="49748"/>
            <a:ext cx="2079530" cy="1383833"/>
          </a:xfrm>
          <a:custGeom>
            <a:avLst/>
            <a:gdLst/>
            <a:ahLst/>
            <a:cxnLst/>
            <a:rect r="r" b="b" t="t" l="l"/>
            <a:pathLst>
              <a:path h="1383833" w="2079530">
                <a:moveTo>
                  <a:pt x="0" y="0"/>
                </a:moveTo>
                <a:lnTo>
                  <a:pt x="2079530" y="0"/>
                </a:lnTo>
                <a:lnTo>
                  <a:pt x="2079530" y="1383832"/>
                </a:lnTo>
                <a:lnTo>
                  <a:pt x="0" y="1383832"/>
                </a:lnTo>
                <a:lnTo>
                  <a:pt x="0" y="0"/>
                </a:lnTo>
                <a:close/>
              </a:path>
            </a:pathLst>
          </a:custGeom>
          <a:blipFill>
            <a:blip r:embed="rId2"/>
            <a:stretch>
              <a:fillRect l="0" t="0" r="0" b="0"/>
            </a:stretch>
          </a:blipFill>
        </p:spPr>
      </p:sp>
      <p:sp>
        <p:nvSpPr>
          <p:cNvPr name="TextBox 36" id="36"/>
          <p:cNvSpPr txBox="true"/>
          <p:nvPr/>
        </p:nvSpPr>
        <p:spPr>
          <a:xfrm rot="0">
            <a:off x="3439896" y="209752"/>
            <a:ext cx="11449610" cy="679450"/>
          </a:xfrm>
          <a:prstGeom prst="rect">
            <a:avLst/>
          </a:prstGeom>
        </p:spPr>
        <p:txBody>
          <a:bodyPr anchor="t" rtlCol="false" tIns="0" lIns="0" bIns="0" rIns="0">
            <a:spAutoFit/>
          </a:bodyPr>
          <a:lstStyle/>
          <a:p>
            <a:pPr algn="ctr">
              <a:lnSpc>
                <a:spcPts val="5599"/>
              </a:lnSpc>
              <a:spcBef>
                <a:spcPct val="0"/>
              </a:spcBef>
            </a:pPr>
            <a:r>
              <a:rPr lang="en-US" b="true" sz="3999">
                <a:solidFill>
                  <a:srgbClr val="191C59"/>
                </a:solidFill>
                <a:latin typeface="Mardoto Heavy"/>
                <a:ea typeface="Mardoto Heavy"/>
                <a:cs typeface="Mardoto Heavy"/>
                <a:sym typeface="Mardoto Heavy"/>
              </a:rPr>
              <a:t>PROYECTO FORMATIVO</a:t>
            </a:r>
          </a:p>
        </p:txBody>
      </p:sp>
      <p:sp>
        <p:nvSpPr>
          <p:cNvPr name="TextBox 37" id="37"/>
          <p:cNvSpPr txBox="true"/>
          <p:nvPr/>
        </p:nvSpPr>
        <p:spPr>
          <a:xfrm rot="0">
            <a:off x="5965300" y="8773257"/>
            <a:ext cx="8820037" cy="1163320"/>
          </a:xfrm>
          <a:prstGeom prst="rect">
            <a:avLst/>
          </a:prstGeom>
        </p:spPr>
        <p:txBody>
          <a:bodyPr anchor="t" rtlCol="false" tIns="0" lIns="0" bIns="0" rIns="0">
            <a:spAutoFit/>
          </a:bodyPr>
          <a:lstStyle/>
          <a:p>
            <a:pPr algn="l">
              <a:lnSpc>
                <a:spcPts val="3079"/>
              </a:lnSpc>
            </a:pPr>
            <a:r>
              <a:rPr lang="en-US" sz="2199">
                <a:solidFill>
                  <a:srgbClr val="191C59"/>
                </a:solidFill>
                <a:latin typeface="Mardoto"/>
                <a:ea typeface="Mardoto"/>
                <a:cs typeface="Mardoto"/>
                <a:sym typeface="Mardoto"/>
              </a:rPr>
              <a:t>Realizado por: Luiger Dalieth Ledezma Asprilla</a:t>
            </a:r>
          </a:p>
          <a:p>
            <a:pPr algn="l">
              <a:lnSpc>
                <a:spcPts val="3079"/>
              </a:lnSpc>
            </a:pPr>
            <a:r>
              <a:rPr lang="en-US" sz="2199">
                <a:solidFill>
                  <a:srgbClr val="191C59"/>
                </a:solidFill>
                <a:latin typeface="Mardoto"/>
                <a:ea typeface="Mardoto"/>
                <a:cs typeface="Mardoto"/>
                <a:sym typeface="Mardoto"/>
              </a:rPr>
              <a:t>                           Fayber Estyben Diaz</a:t>
            </a:r>
          </a:p>
          <a:p>
            <a:pPr algn="l">
              <a:lnSpc>
                <a:spcPts val="3079"/>
              </a:lnSpc>
              <a:spcBef>
                <a:spcPct val="0"/>
              </a:spcBef>
            </a:pPr>
            <a:r>
              <a:rPr lang="en-US" sz="2199">
                <a:solidFill>
                  <a:srgbClr val="191C59"/>
                </a:solidFill>
                <a:latin typeface="Mardoto"/>
                <a:ea typeface="Mardoto"/>
                <a:cs typeface="Mardoto"/>
                <a:sym typeface="Mardoto"/>
              </a:rPr>
              <a:t>                           Sonia Alexandra Solorzano Ramos</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EDEDED"/>
        </a:solidFill>
      </p:bgPr>
    </p:bg>
    <p:spTree>
      <p:nvGrpSpPr>
        <p:cNvPr id="1" name=""/>
        <p:cNvGrpSpPr/>
        <p:nvPr/>
      </p:nvGrpSpPr>
      <p:grpSpPr>
        <a:xfrm>
          <a:off x="0" y="0"/>
          <a:ext cx="0" cy="0"/>
          <a:chOff x="0" y="0"/>
          <a:chExt cx="0" cy="0"/>
        </a:xfrm>
      </p:grpSpPr>
      <p:grpSp>
        <p:nvGrpSpPr>
          <p:cNvPr name="Group 2" id="2"/>
          <p:cNvGrpSpPr/>
          <p:nvPr/>
        </p:nvGrpSpPr>
        <p:grpSpPr>
          <a:xfrm rot="0">
            <a:off x="4853103" y="1203638"/>
            <a:ext cx="9186499" cy="2012941"/>
            <a:chOff x="0" y="0"/>
            <a:chExt cx="2419489" cy="530157"/>
          </a:xfrm>
        </p:grpSpPr>
        <p:sp>
          <p:nvSpPr>
            <p:cNvPr name="Freeform 3" id="3"/>
            <p:cNvSpPr/>
            <p:nvPr/>
          </p:nvSpPr>
          <p:spPr>
            <a:xfrm flipH="false" flipV="false" rot="0">
              <a:off x="0" y="0"/>
              <a:ext cx="2419489" cy="530157"/>
            </a:xfrm>
            <a:custGeom>
              <a:avLst/>
              <a:gdLst/>
              <a:ahLst/>
              <a:cxnLst/>
              <a:rect r="r" b="b" t="t" l="l"/>
              <a:pathLst>
                <a:path h="530157" w="2419489">
                  <a:moveTo>
                    <a:pt x="0" y="0"/>
                  </a:moveTo>
                  <a:lnTo>
                    <a:pt x="2419489" y="0"/>
                  </a:lnTo>
                  <a:lnTo>
                    <a:pt x="2419489" y="530157"/>
                  </a:lnTo>
                  <a:lnTo>
                    <a:pt x="0" y="530157"/>
                  </a:lnTo>
                  <a:close/>
                </a:path>
              </a:pathLst>
            </a:custGeom>
            <a:ln w="104775" cap="sq">
              <a:solidFill>
                <a:srgbClr val="2B326B"/>
              </a:solidFill>
              <a:prstDash val="solid"/>
              <a:miter/>
            </a:ln>
          </p:spPr>
        </p:sp>
        <p:sp>
          <p:nvSpPr>
            <p:cNvPr name="TextBox 4" id="4"/>
            <p:cNvSpPr txBox="true"/>
            <p:nvPr/>
          </p:nvSpPr>
          <p:spPr>
            <a:xfrm>
              <a:off x="0" y="-47625"/>
              <a:ext cx="2419489" cy="577782"/>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4597290" y="1354516"/>
            <a:ext cx="9698125" cy="1682608"/>
          </a:xfrm>
          <a:prstGeom prst="rect">
            <a:avLst/>
          </a:prstGeom>
        </p:spPr>
        <p:txBody>
          <a:bodyPr anchor="t" rtlCol="false" tIns="0" lIns="0" bIns="0" rIns="0">
            <a:spAutoFit/>
          </a:bodyPr>
          <a:lstStyle/>
          <a:p>
            <a:pPr algn="ctr">
              <a:lnSpc>
                <a:spcPts val="13370"/>
              </a:lnSpc>
            </a:pPr>
            <a:r>
              <a:rPr lang="en-US" b="true" sz="10870">
                <a:solidFill>
                  <a:srgbClr val="191C59"/>
                </a:solidFill>
                <a:latin typeface="Montaser Arabic Heavy"/>
                <a:ea typeface="Montaser Arabic Heavy"/>
                <a:cs typeface="Montaser Arabic Heavy"/>
                <a:sym typeface="Montaser Arabic Heavy"/>
              </a:rPr>
              <a:t>PREGUNTAS</a:t>
            </a:r>
          </a:p>
        </p:txBody>
      </p:sp>
      <p:grpSp>
        <p:nvGrpSpPr>
          <p:cNvPr name="Group 6" id="6"/>
          <p:cNvGrpSpPr/>
          <p:nvPr/>
        </p:nvGrpSpPr>
        <p:grpSpPr>
          <a:xfrm rot="5400000">
            <a:off x="7537139" y="-11024938"/>
            <a:ext cx="3086100" cy="21287411"/>
            <a:chOff x="0" y="0"/>
            <a:chExt cx="812800" cy="5606561"/>
          </a:xfrm>
        </p:grpSpPr>
        <p:sp>
          <p:nvSpPr>
            <p:cNvPr name="Freeform 7" id="7"/>
            <p:cNvSpPr/>
            <p:nvPr/>
          </p:nvSpPr>
          <p:spPr>
            <a:xfrm flipH="false" flipV="false" rot="0">
              <a:off x="0" y="0"/>
              <a:ext cx="812800" cy="5606561"/>
            </a:xfrm>
            <a:custGeom>
              <a:avLst/>
              <a:gdLst/>
              <a:ahLst/>
              <a:cxnLst/>
              <a:rect r="r" b="b" t="t" l="l"/>
              <a:pathLst>
                <a:path h="5606561" w="812800">
                  <a:moveTo>
                    <a:pt x="0" y="0"/>
                  </a:moveTo>
                  <a:lnTo>
                    <a:pt x="812800" y="0"/>
                  </a:lnTo>
                  <a:lnTo>
                    <a:pt x="812800" y="5606561"/>
                  </a:lnTo>
                  <a:lnTo>
                    <a:pt x="0" y="5606561"/>
                  </a:lnTo>
                  <a:close/>
                </a:path>
              </a:pathLst>
            </a:custGeom>
            <a:solidFill>
              <a:srgbClr val="2B326B"/>
            </a:solidFill>
          </p:spPr>
        </p:sp>
        <p:sp>
          <p:nvSpPr>
            <p:cNvPr name="TextBox 8" id="8"/>
            <p:cNvSpPr txBox="true"/>
            <p:nvPr/>
          </p:nvSpPr>
          <p:spPr>
            <a:xfrm>
              <a:off x="0" y="-47625"/>
              <a:ext cx="812800" cy="5654186"/>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543742" y="3581088"/>
            <a:ext cx="1585655" cy="1238141"/>
            <a:chOff x="0" y="0"/>
            <a:chExt cx="678958" cy="530157"/>
          </a:xfrm>
        </p:grpSpPr>
        <p:sp>
          <p:nvSpPr>
            <p:cNvPr name="Freeform 10" id="10"/>
            <p:cNvSpPr/>
            <p:nvPr/>
          </p:nvSpPr>
          <p:spPr>
            <a:xfrm flipH="false" flipV="false" rot="0">
              <a:off x="0" y="0"/>
              <a:ext cx="678958" cy="530157"/>
            </a:xfrm>
            <a:custGeom>
              <a:avLst/>
              <a:gdLst/>
              <a:ahLst/>
              <a:cxnLst/>
              <a:rect r="r" b="b" t="t" l="l"/>
              <a:pathLst>
                <a:path h="530157" w="678958">
                  <a:moveTo>
                    <a:pt x="0" y="0"/>
                  </a:moveTo>
                  <a:lnTo>
                    <a:pt x="678958" y="0"/>
                  </a:lnTo>
                  <a:lnTo>
                    <a:pt x="678958" y="530157"/>
                  </a:lnTo>
                  <a:lnTo>
                    <a:pt x="0" y="530157"/>
                  </a:lnTo>
                  <a:close/>
                </a:path>
              </a:pathLst>
            </a:custGeom>
            <a:ln w="57150" cap="sq">
              <a:solidFill>
                <a:srgbClr val="2B326B"/>
              </a:solidFill>
              <a:prstDash val="solid"/>
              <a:miter/>
            </a:ln>
          </p:spPr>
        </p:sp>
        <p:sp>
          <p:nvSpPr>
            <p:cNvPr name="TextBox 11" id="11"/>
            <p:cNvSpPr txBox="true"/>
            <p:nvPr/>
          </p:nvSpPr>
          <p:spPr>
            <a:xfrm>
              <a:off x="0" y="-47625"/>
              <a:ext cx="678958" cy="577782"/>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200898" y="3662894"/>
            <a:ext cx="2320198" cy="1045956"/>
          </a:xfrm>
          <a:prstGeom prst="rect">
            <a:avLst/>
          </a:prstGeom>
        </p:spPr>
        <p:txBody>
          <a:bodyPr anchor="t" rtlCol="false" tIns="0" lIns="0" bIns="0" rIns="0">
            <a:spAutoFit/>
          </a:bodyPr>
          <a:lstStyle/>
          <a:p>
            <a:pPr algn="ctr">
              <a:lnSpc>
                <a:spcPts val="8224"/>
              </a:lnSpc>
            </a:pPr>
            <a:r>
              <a:rPr lang="en-US" b="true" sz="6686" spc="367">
                <a:solidFill>
                  <a:srgbClr val="191C59"/>
                </a:solidFill>
                <a:latin typeface="Montaser Arabic Heavy"/>
                <a:ea typeface="Montaser Arabic Heavy"/>
                <a:cs typeface="Montaser Arabic Heavy"/>
                <a:sym typeface="Montaser Arabic Heavy"/>
              </a:rPr>
              <a:t>02</a:t>
            </a:r>
          </a:p>
        </p:txBody>
      </p:sp>
      <p:sp>
        <p:nvSpPr>
          <p:cNvPr name="TextBox 13" id="13"/>
          <p:cNvSpPr txBox="true"/>
          <p:nvPr/>
        </p:nvSpPr>
        <p:spPr>
          <a:xfrm rot="0">
            <a:off x="2264290" y="3560861"/>
            <a:ext cx="5658378" cy="2617021"/>
          </a:xfrm>
          <a:prstGeom prst="rect">
            <a:avLst/>
          </a:prstGeom>
        </p:spPr>
        <p:txBody>
          <a:bodyPr anchor="t" rtlCol="false" tIns="0" lIns="0" bIns="0" rIns="0">
            <a:spAutoFit/>
          </a:bodyPr>
          <a:lstStyle/>
          <a:p>
            <a:pPr algn="just">
              <a:lnSpc>
                <a:spcPts val="5214"/>
              </a:lnSpc>
            </a:pPr>
            <a:r>
              <a:rPr lang="en-US" sz="3724">
                <a:solidFill>
                  <a:srgbClr val="191C59"/>
                </a:solidFill>
                <a:latin typeface="Mardoto"/>
                <a:ea typeface="Mardoto"/>
                <a:cs typeface="Mardoto"/>
                <a:sym typeface="Mardoto"/>
              </a:rPr>
              <a:t>Justifique la pertinencia del proyecto respecto a su programa de formación. </a:t>
            </a:r>
          </a:p>
          <a:p>
            <a:pPr algn="just">
              <a:lnSpc>
                <a:spcPts val="5214"/>
              </a:lnSpc>
              <a:spcBef>
                <a:spcPct val="0"/>
              </a:spcBef>
            </a:pPr>
          </a:p>
        </p:txBody>
      </p:sp>
      <p:grpSp>
        <p:nvGrpSpPr>
          <p:cNvPr name="Group 14" id="14"/>
          <p:cNvGrpSpPr/>
          <p:nvPr/>
        </p:nvGrpSpPr>
        <p:grpSpPr>
          <a:xfrm rot="0">
            <a:off x="543742" y="5714148"/>
            <a:ext cx="1585655" cy="1238141"/>
            <a:chOff x="0" y="0"/>
            <a:chExt cx="678958" cy="530157"/>
          </a:xfrm>
        </p:grpSpPr>
        <p:sp>
          <p:nvSpPr>
            <p:cNvPr name="Freeform 15" id="15"/>
            <p:cNvSpPr/>
            <p:nvPr/>
          </p:nvSpPr>
          <p:spPr>
            <a:xfrm flipH="false" flipV="false" rot="0">
              <a:off x="0" y="0"/>
              <a:ext cx="678958" cy="530157"/>
            </a:xfrm>
            <a:custGeom>
              <a:avLst/>
              <a:gdLst/>
              <a:ahLst/>
              <a:cxnLst/>
              <a:rect r="r" b="b" t="t" l="l"/>
              <a:pathLst>
                <a:path h="530157" w="678958">
                  <a:moveTo>
                    <a:pt x="0" y="0"/>
                  </a:moveTo>
                  <a:lnTo>
                    <a:pt x="678958" y="0"/>
                  </a:lnTo>
                  <a:lnTo>
                    <a:pt x="678958" y="530157"/>
                  </a:lnTo>
                  <a:lnTo>
                    <a:pt x="0" y="530157"/>
                  </a:lnTo>
                  <a:close/>
                </a:path>
              </a:pathLst>
            </a:custGeom>
            <a:ln w="57150" cap="sq">
              <a:solidFill>
                <a:srgbClr val="2B326B"/>
              </a:solidFill>
              <a:prstDash val="solid"/>
              <a:miter/>
            </a:ln>
          </p:spPr>
        </p:sp>
        <p:sp>
          <p:nvSpPr>
            <p:cNvPr name="TextBox 16" id="16"/>
            <p:cNvSpPr txBox="true"/>
            <p:nvPr/>
          </p:nvSpPr>
          <p:spPr>
            <a:xfrm>
              <a:off x="0" y="-47625"/>
              <a:ext cx="678958" cy="577782"/>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176471" y="5736270"/>
            <a:ext cx="2320198" cy="1045956"/>
          </a:xfrm>
          <a:prstGeom prst="rect">
            <a:avLst/>
          </a:prstGeom>
        </p:spPr>
        <p:txBody>
          <a:bodyPr anchor="t" rtlCol="false" tIns="0" lIns="0" bIns="0" rIns="0">
            <a:spAutoFit/>
          </a:bodyPr>
          <a:lstStyle/>
          <a:p>
            <a:pPr algn="ctr">
              <a:lnSpc>
                <a:spcPts val="8224"/>
              </a:lnSpc>
            </a:pPr>
            <a:r>
              <a:rPr lang="en-US" b="true" sz="6686" spc="367">
                <a:solidFill>
                  <a:srgbClr val="191C59"/>
                </a:solidFill>
                <a:latin typeface="Montaser Arabic Heavy"/>
                <a:ea typeface="Montaser Arabic Heavy"/>
                <a:cs typeface="Montaser Arabic Heavy"/>
                <a:sym typeface="Montaser Arabic Heavy"/>
              </a:rPr>
              <a:t>03</a:t>
            </a:r>
          </a:p>
        </p:txBody>
      </p:sp>
      <p:sp>
        <p:nvSpPr>
          <p:cNvPr name="TextBox 18" id="18"/>
          <p:cNvSpPr txBox="true"/>
          <p:nvPr/>
        </p:nvSpPr>
        <p:spPr>
          <a:xfrm rot="0">
            <a:off x="2200479" y="5680399"/>
            <a:ext cx="5722189" cy="2617021"/>
          </a:xfrm>
          <a:prstGeom prst="rect">
            <a:avLst/>
          </a:prstGeom>
        </p:spPr>
        <p:txBody>
          <a:bodyPr anchor="t" rtlCol="false" tIns="0" lIns="0" bIns="0" rIns="0">
            <a:spAutoFit/>
          </a:bodyPr>
          <a:lstStyle/>
          <a:p>
            <a:pPr algn="just">
              <a:lnSpc>
                <a:spcPts val="5214"/>
              </a:lnSpc>
            </a:pPr>
            <a:r>
              <a:rPr lang="en-US" sz="3724">
                <a:solidFill>
                  <a:srgbClr val="191C59"/>
                </a:solidFill>
                <a:latin typeface="Mardoto"/>
                <a:ea typeface="Mardoto"/>
                <a:cs typeface="Mardoto"/>
                <a:sym typeface="Mardoto"/>
              </a:rPr>
              <a:t>¿Cuántas y cuáles son las fases que involucra su proyecto? </a:t>
            </a:r>
          </a:p>
          <a:p>
            <a:pPr algn="just">
              <a:lnSpc>
                <a:spcPts val="5214"/>
              </a:lnSpc>
              <a:spcBef>
                <a:spcPct val="0"/>
              </a:spcBef>
            </a:pPr>
          </a:p>
        </p:txBody>
      </p:sp>
      <p:grpSp>
        <p:nvGrpSpPr>
          <p:cNvPr name="Group 19" id="19"/>
          <p:cNvGrpSpPr/>
          <p:nvPr/>
        </p:nvGrpSpPr>
        <p:grpSpPr>
          <a:xfrm rot="0">
            <a:off x="9837384" y="3774914"/>
            <a:ext cx="1585655" cy="1238141"/>
            <a:chOff x="0" y="0"/>
            <a:chExt cx="678958" cy="530157"/>
          </a:xfrm>
        </p:grpSpPr>
        <p:sp>
          <p:nvSpPr>
            <p:cNvPr name="Freeform 20" id="20"/>
            <p:cNvSpPr/>
            <p:nvPr/>
          </p:nvSpPr>
          <p:spPr>
            <a:xfrm flipH="false" flipV="false" rot="0">
              <a:off x="0" y="0"/>
              <a:ext cx="678958" cy="530157"/>
            </a:xfrm>
            <a:custGeom>
              <a:avLst/>
              <a:gdLst/>
              <a:ahLst/>
              <a:cxnLst/>
              <a:rect r="r" b="b" t="t" l="l"/>
              <a:pathLst>
                <a:path h="530157" w="678958">
                  <a:moveTo>
                    <a:pt x="0" y="0"/>
                  </a:moveTo>
                  <a:lnTo>
                    <a:pt x="678958" y="0"/>
                  </a:lnTo>
                  <a:lnTo>
                    <a:pt x="678958" y="530157"/>
                  </a:lnTo>
                  <a:lnTo>
                    <a:pt x="0" y="530157"/>
                  </a:lnTo>
                  <a:close/>
                </a:path>
              </a:pathLst>
            </a:custGeom>
            <a:ln w="57150" cap="sq">
              <a:solidFill>
                <a:srgbClr val="2B326B"/>
              </a:solidFill>
              <a:prstDash val="solid"/>
              <a:miter/>
            </a:ln>
          </p:spPr>
        </p:sp>
        <p:sp>
          <p:nvSpPr>
            <p:cNvPr name="TextBox 21" id="21"/>
            <p:cNvSpPr txBox="true"/>
            <p:nvPr/>
          </p:nvSpPr>
          <p:spPr>
            <a:xfrm>
              <a:off x="0" y="-47625"/>
              <a:ext cx="678958" cy="577782"/>
            </a:xfrm>
            <a:prstGeom prst="rect">
              <a:avLst/>
            </a:prstGeom>
          </p:spPr>
          <p:txBody>
            <a:bodyPr anchor="ctr" rtlCol="false" tIns="50800" lIns="50800" bIns="50800" rIns="50800"/>
            <a:lstStyle/>
            <a:p>
              <a:pPr algn="ctr">
                <a:lnSpc>
                  <a:spcPts val="2659"/>
                </a:lnSpc>
              </a:pPr>
            </a:p>
          </p:txBody>
        </p:sp>
      </p:grpSp>
      <p:sp>
        <p:nvSpPr>
          <p:cNvPr name="TextBox 22" id="22"/>
          <p:cNvSpPr txBox="true"/>
          <p:nvPr/>
        </p:nvSpPr>
        <p:spPr>
          <a:xfrm rot="0">
            <a:off x="9470113" y="3907417"/>
            <a:ext cx="2320198" cy="1045956"/>
          </a:xfrm>
          <a:prstGeom prst="rect">
            <a:avLst/>
          </a:prstGeom>
        </p:spPr>
        <p:txBody>
          <a:bodyPr anchor="t" rtlCol="false" tIns="0" lIns="0" bIns="0" rIns="0">
            <a:spAutoFit/>
          </a:bodyPr>
          <a:lstStyle/>
          <a:p>
            <a:pPr algn="ctr">
              <a:lnSpc>
                <a:spcPts val="8224"/>
              </a:lnSpc>
            </a:pPr>
            <a:r>
              <a:rPr lang="en-US" b="true" sz="6686" spc="367">
                <a:solidFill>
                  <a:srgbClr val="191C59"/>
                </a:solidFill>
                <a:latin typeface="Montaser Arabic Heavy"/>
                <a:ea typeface="Montaser Arabic Heavy"/>
                <a:cs typeface="Montaser Arabic Heavy"/>
                <a:sym typeface="Montaser Arabic Heavy"/>
              </a:rPr>
              <a:t>04</a:t>
            </a:r>
          </a:p>
        </p:txBody>
      </p:sp>
      <p:grpSp>
        <p:nvGrpSpPr>
          <p:cNvPr name="Group 23" id="23"/>
          <p:cNvGrpSpPr/>
          <p:nvPr/>
        </p:nvGrpSpPr>
        <p:grpSpPr>
          <a:xfrm rot="0">
            <a:off x="9813624" y="5898988"/>
            <a:ext cx="1585655" cy="1238141"/>
            <a:chOff x="0" y="0"/>
            <a:chExt cx="678958" cy="530157"/>
          </a:xfrm>
        </p:grpSpPr>
        <p:sp>
          <p:nvSpPr>
            <p:cNvPr name="Freeform 24" id="24"/>
            <p:cNvSpPr/>
            <p:nvPr/>
          </p:nvSpPr>
          <p:spPr>
            <a:xfrm flipH="false" flipV="false" rot="0">
              <a:off x="0" y="0"/>
              <a:ext cx="678958" cy="530157"/>
            </a:xfrm>
            <a:custGeom>
              <a:avLst/>
              <a:gdLst/>
              <a:ahLst/>
              <a:cxnLst/>
              <a:rect r="r" b="b" t="t" l="l"/>
              <a:pathLst>
                <a:path h="530157" w="678958">
                  <a:moveTo>
                    <a:pt x="0" y="0"/>
                  </a:moveTo>
                  <a:lnTo>
                    <a:pt x="678958" y="0"/>
                  </a:lnTo>
                  <a:lnTo>
                    <a:pt x="678958" y="530157"/>
                  </a:lnTo>
                  <a:lnTo>
                    <a:pt x="0" y="530157"/>
                  </a:lnTo>
                  <a:close/>
                </a:path>
              </a:pathLst>
            </a:custGeom>
            <a:ln w="57150" cap="sq">
              <a:solidFill>
                <a:srgbClr val="2B326B"/>
              </a:solidFill>
              <a:prstDash val="solid"/>
              <a:miter/>
            </a:ln>
          </p:spPr>
        </p:sp>
        <p:sp>
          <p:nvSpPr>
            <p:cNvPr name="TextBox 25" id="25"/>
            <p:cNvSpPr txBox="true"/>
            <p:nvPr/>
          </p:nvSpPr>
          <p:spPr>
            <a:xfrm>
              <a:off x="0" y="-47625"/>
              <a:ext cx="678958" cy="577782"/>
            </a:xfrm>
            <a:prstGeom prst="rect">
              <a:avLst/>
            </a:prstGeom>
          </p:spPr>
          <p:txBody>
            <a:bodyPr anchor="ctr" rtlCol="false" tIns="50800" lIns="50800" bIns="50800" rIns="50800"/>
            <a:lstStyle/>
            <a:p>
              <a:pPr algn="ctr">
                <a:lnSpc>
                  <a:spcPts val="2659"/>
                </a:lnSpc>
              </a:pPr>
            </a:p>
          </p:txBody>
        </p:sp>
      </p:grpSp>
      <p:sp>
        <p:nvSpPr>
          <p:cNvPr name="TextBox 26" id="26"/>
          <p:cNvSpPr txBox="true"/>
          <p:nvPr/>
        </p:nvSpPr>
        <p:spPr>
          <a:xfrm rot="0">
            <a:off x="9470113" y="5980793"/>
            <a:ext cx="2320198" cy="1045956"/>
          </a:xfrm>
          <a:prstGeom prst="rect">
            <a:avLst/>
          </a:prstGeom>
        </p:spPr>
        <p:txBody>
          <a:bodyPr anchor="t" rtlCol="false" tIns="0" lIns="0" bIns="0" rIns="0">
            <a:spAutoFit/>
          </a:bodyPr>
          <a:lstStyle/>
          <a:p>
            <a:pPr algn="ctr">
              <a:lnSpc>
                <a:spcPts val="8224"/>
              </a:lnSpc>
            </a:pPr>
            <a:r>
              <a:rPr lang="en-US" b="true" sz="6686" spc="367">
                <a:solidFill>
                  <a:srgbClr val="191C59"/>
                </a:solidFill>
                <a:latin typeface="Montaser Arabic Heavy"/>
                <a:ea typeface="Montaser Arabic Heavy"/>
                <a:cs typeface="Montaser Arabic Heavy"/>
                <a:sym typeface="Montaser Arabic Heavy"/>
              </a:rPr>
              <a:t>05</a:t>
            </a:r>
          </a:p>
        </p:txBody>
      </p:sp>
      <p:sp>
        <p:nvSpPr>
          <p:cNvPr name="TextBox 27" id="27"/>
          <p:cNvSpPr txBox="true"/>
          <p:nvPr/>
        </p:nvSpPr>
        <p:spPr>
          <a:xfrm rot="0">
            <a:off x="11610590" y="5637948"/>
            <a:ext cx="6465611" cy="2617021"/>
          </a:xfrm>
          <a:prstGeom prst="rect">
            <a:avLst/>
          </a:prstGeom>
        </p:spPr>
        <p:txBody>
          <a:bodyPr anchor="t" rtlCol="false" tIns="0" lIns="0" bIns="0" rIns="0">
            <a:spAutoFit/>
          </a:bodyPr>
          <a:lstStyle/>
          <a:p>
            <a:pPr algn="just">
              <a:lnSpc>
                <a:spcPts val="5214"/>
              </a:lnSpc>
            </a:pPr>
            <a:r>
              <a:rPr lang="en-US" sz="3724">
                <a:solidFill>
                  <a:srgbClr val="191C59"/>
                </a:solidFill>
                <a:latin typeface="Mardoto"/>
                <a:ea typeface="Mardoto"/>
                <a:cs typeface="Mardoto"/>
                <a:sym typeface="Mardoto"/>
              </a:rPr>
              <a:t>¿Cuántos resultados de aprendizaje contempla su proyecto de formación? </a:t>
            </a:r>
          </a:p>
          <a:p>
            <a:pPr algn="just">
              <a:lnSpc>
                <a:spcPts val="5214"/>
              </a:lnSpc>
              <a:spcBef>
                <a:spcPct val="0"/>
              </a:spcBef>
            </a:pPr>
          </a:p>
        </p:txBody>
      </p:sp>
      <p:grpSp>
        <p:nvGrpSpPr>
          <p:cNvPr name="Group 28" id="28"/>
          <p:cNvGrpSpPr/>
          <p:nvPr/>
        </p:nvGrpSpPr>
        <p:grpSpPr>
          <a:xfrm rot="0">
            <a:off x="543742" y="8020159"/>
            <a:ext cx="1585655" cy="1238141"/>
            <a:chOff x="0" y="0"/>
            <a:chExt cx="678958" cy="530157"/>
          </a:xfrm>
        </p:grpSpPr>
        <p:sp>
          <p:nvSpPr>
            <p:cNvPr name="Freeform 29" id="29"/>
            <p:cNvSpPr/>
            <p:nvPr/>
          </p:nvSpPr>
          <p:spPr>
            <a:xfrm flipH="false" flipV="false" rot="0">
              <a:off x="0" y="0"/>
              <a:ext cx="678958" cy="530157"/>
            </a:xfrm>
            <a:custGeom>
              <a:avLst/>
              <a:gdLst/>
              <a:ahLst/>
              <a:cxnLst/>
              <a:rect r="r" b="b" t="t" l="l"/>
              <a:pathLst>
                <a:path h="530157" w="678958">
                  <a:moveTo>
                    <a:pt x="0" y="0"/>
                  </a:moveTo>
                  <a:lnTo>
                    <a:pt x="678958" y="0"/>
                  </a:lnTo>
                  <a:lnTo>
                    <a:pt x="678958" y="530157"/>
                  </a:lnTo>
                  <a:lnTo>
                    <a:pt x="0" y="530157"/>
                  </a:lnTo>
                  <a:close/>
                </a:path>
              </a:pathLst>
            </a:custGeom>
            <a:ln w="57150" cap="sq">
              <a:solidFill>
                <a:srgbClr val="2B326B"/>
              </a:solidFill>
              <a:prstDash val="solid"/>
              <a:miter/>
            </a:ln>
          </p:spPr>
        </p:sp>
        <p:sp>
          <p:nvSpPr>
            <p:cNvPr name="TextBox 30" id="30"/>
            <p:cNvSpPr txBox="true"/>
            <p:nvPr/>
          </p:nvSpPr>
          <p:spPr>
            <a:xfrm>
              <a:off x="0" y="-47625"/>
              <a:ext cx="678958" cy="577782"/>
            </a:xfrm>
            <a:prstGeom prst="rect">
              <a:avLst/>
            </a:prstGeom>
          </p:spPr>
          <p:txBody>
            <a:bodyPr anchor="ctr" rtlCol="false" tIns="50800" lIns="50800" bIns="50800" rIns="50800"/>
            <a:lstStyle/>
            <a:p>
              <a:pPr algn="ctr">
                <a:lnSpc>
                  <a:spcPts val="2659"/>
                </a:lnSpc>
              </a:pPr>
            </a:p>
          </p:txBody>
        </p:sp>
      </p:grpSp>
      <p:sp>
        <p:nvSpPr>
          <p:cNvPr name="TextBox 31" id="31"/>
          <p:cNvSpPr txBox="true"/>
          <p:nvPr/>
        </p:nvSpPr>
        <p:spPr>
          <a:xfrm rot="0">
            <a:off x="200898" y="8101964"/>
            <a:ext cx="2320198" cy="1045956"/>
          </a:xfrm>
          <a:prstGeom prst="rect">
            <a:avLst/>
          </a:prstGeom>
        </p:spPr>
        <p:txBody>
          <a:bodyPr anchor="t" rtlCol="false" tIns="0" lIns="0" bIns="0" rIns="0">
            <a:spAutoFit/>
          </a:bodyPr>
          <a:lstStyle/>
          <a:p>
            <a:pPr algn="ctr">
              <a:lnSpc>
                <a:spcPts val="8224"/>
              </a:lnSpc>
            </a:pPr>
            <a:r>
              <a:rPr lang="en-US" b="true" sz="6686" spc="367">
                <a:solidFill>
                  <a:srgbClr val="191C59"/>
                </a:solidFill>
                <a:latin typeface="Montaser Arabic Heavy"/>
                <a:ea typeface="Montaser Arabic Heavy"/>
                <a:cs typeface="Montaser Arabic Heavy"/>
                <a:sym typeface="Montaser Arabic Heavy"/>
              </a:rPr>
              <a:t>06</a:t>
            </a:r>
          </a:p>
        </p:txBody>
      </p:sp>
      <p:sp>
        <p:nvSpPr>
          <p:cNvPr name="TextBox 32" id="32"/>
          <p:cNvSpPr txBox="true"/>
          <p:nvPr/>
        </p:nvSpPr>
        <p:spPr>
          <a:xfrm rot="0">
            <a:off x="2200479" y="7943959"/>
            <a:ext cx="5722189" cy="1958165"/>
          </a:xfrm>
          <a:prstGeom prst="rect">
            <a:avLst/>
          </a:prstGeom>
        </p:spPr>
        <p:txBody>
          <a:bodyPr anchor="t" rtlCol="false" tIns="0" lIns="0" bIns="0" rIns="0">
            <a:spAutoFit/>
          </a:bodyPr>
          <a:lstStyle/>
          <a:p>
            <a:pPr algn="just">
              <a:lnSpc>
                <a:spcPts val="5214"/>
              </a:lnSpc>
              <a:spcBef>
                <a:spcPct val="0"/>
              </a:spcBef>
            </a:pPr>
            <a:r>
              <a:rPr lang="en-US" sz="3724">
                <a:solidFill>
                  <a:srgbClr val="191C59"/>
                </a:solidFill>
                <a:latin typeface="Mardoto"/>
                <a:ea typeface="Mardoto"/>
                <a:cs typeface="Mardoto"/>
                <a:sym typeface="Mardoto"/>
              </a:rPr>
              <a:t> En qué fase del proyecto y en qué actividad de aprendizaje me encuentro. </a:t>
            </a:r>
          </a:p>
        </p:txBody>
      </p:sp>
      <p:sp>
        <p:nvSpPr>
          <p:cNvPr name="TextBox 33" id="33"/>
          <p:cNvSpPr txBox="true"/>
          <p:nvPr/>
        </p:nvSpPr>
        <p:spPr>
          <a:xfrm rot="0">
            <a:off x="11610590" y="3472619"/>
            <a:ext cx="6465611" cy="1958165"/>
          </a:xfrm>
          <a:prstGeom prst="rect">
            <a:avLst/>
          </a:prstGeom>
        </p:spPr>
        <p:txBody>
          <a:bodyPr anchor="t" rtlCol="false" tIns="0" lIns="0" bIns="0" rIns="0">
            <a:spAutoFit/>
          </a:bodyPr>
          <a:lstStyle/>
          <a:p>
            <a:pPr algn="just">
              <a:lnSpc>
                <a:spcPts val="5214"/>
              </a:lnSpc>
              <a:spcBef>
                <a:spcPct val="0"/>
              </a:spcBef>
            </a:pPr>
            <a:r>
              <a:rPr lang="en-US" sz="3724">
                <a:solidFill>
                  <a:srgbClr val="191C59"/>
                </a:solidFill>
                <a:latin typeface="Mardoto"/>
                <a:ea typeface="Mardoto"/>
                <a:cs typeface="Mardoto"/>
                <a:sym typeface="Mardoto"/>
              </a:rPr>
              <a:t>¿Cuántas y cuáles son las competencias para desarrollar en este proyecto? </a:t>
            </a:r>
          </a:p>
        </p:txBody>
      </p:sp>
      <p:grpSp>
        <p:nvGrpSpPr>
          <p:cNvPr name="Group 34" id="34"/>
          <p:cNvGrpSpPr/>
          <p:nvPr/>
        </p:nvGrpSpPr>
        <p:grpSpPr>
          <a:xfrm rot="5400000">
            <a:off x="16999532" y="-87300"/>
            <a:ext cx="204131" cy="1145622"/>
            <a:chOff x="0" y="0"/>
            <a:chExt cx="272175" cy="1527496"/>
          </a:xfrm>
        </p:grpSpPr>
        <p:grpSp>
          <p:nvGrpSpPr>
            <p:cNvPr name="Group 35" id="35"/>
            <p:cNvGrpSpPr/>
            <p:nvPr/>
          </p:nvGrpSpPr>
          <p:grpSpPr>
            <a:xfrm rot="0">
              <a:off x="0" y="0"/>
              <a:ext cx="272175" cy="272175"/>
              <a:chOff x="0" y="0"/>
              <a:chExt cx="812800" cy="812800"/>
            </a:xfrm>
          </p:grpSpPr>
          <p:sp>
            <p:nvSpPr>
              <p:cNvPr name="Freeform 36" id="3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DEDED"/>
              </a:solidFill>
            </p:spPr>
          </p:sp>
          <p:sp>
            <p:nvSpPr>
              <p:cNvPr name="TextBox 37" id="37"/>
              <p:cNvSpPr txBox="true"/>
              <p:nvPr/>
            </p:nvSpPr>
            <p:spPr>
              <a:xfrm>
                <a:off x="76200" y="28575"/>
                <a:ext cx="660400" cy="708025"/>
              </a:xfrm>
              <a:prstGeom prst="rect">
                <a:avLst/>
              </a:prstGeom>
            </p:spPr>
            <p:txBody>
              <a:bodyPr anchor="ctr" rtlCol="false" tIns="114559" lIns="114559" bIns="114559" rIns="114559"/>
              <a:lstStyle/>
              <a:p>
                <a:pPr algn="ctr">
                  <a:lnSpc>
                    <a:spcPts val="2660"/>
                  </a:lnSpc>
                </a:pPr>
              </a:p>
            </p:txBody>
          </p:sp>
        </p:grpSp>
        <p:grpSp>
          <p:nvGrpSpPr>
            <p:cNvPr name="Group 38" id="38"/>
            <p:cNvGrpSpPr/>
            <p:nvPr/>
          </p:nvGrpSpPr>
          <p:grpSpPr>
            <a:xfrm rot="0">
              <a:off x="0" y="627661"/>
              <a:ext cx="272175" cy="272175"/>
              <a:chOff x="0" y="0"/>
              <a:chExt cx="812800" cy="812800"/>
            </a:xfrm>
          </p:grpSpPr>
          <p:sp>
            <p:nvSpPr>
              <p:cNvPr name="Freeform 39" id="3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DEDED"/>
              </a:solidFill>
            </p:spPr>
          </p:sp>
          <p:sp>
            <p:nvSpPr>
              <p:cNvPr name="TextBox 40" id="40"/>
              <p:cNvSpPr txBox="true"/>
              <p:nvPr/>
            </p:nvSpPr>
            <p:spPr>
              <a:xfrm>
                <a:off x="76200" y="28575"/>
                <a:ext cx="660400" cy="708025"/>
              </a:xfrm>
              <a:prstGeom prst="rect">
                <a:avLst/>
              </a:prstGeom>
            </p:spPr>
            <p:txBody>
              <a:bodyPr anchor="ctr" rtlCol="false" tIns="114559" lIns="114559" bIns="114559" rIns="114559"/>
              <a:lstStyle/>
              <a:p>
                <a:pPr algn="ctr">
                  <a:lnSpc>
                    <a:spcPts val="2660"/>
                  </a:lnSpc>
                </a:pPr>
              </a:p>
            </p:txBody>
          </p:sp>
        </p:grpSp>
        <p:grpSp>
          <p:nvGrpSpPr>
            <p:cNvPr name="Group 41" id="41"/>
            <p:cNvGrpSpPr/>
            <p:nvPr/>
          </p:nvGrpSpPr>
          <p:grpSpPr>
            <a:xfrm rot="0">
              <a:off x="0" y="1255321"/>
              <a:ext cx="272175" cy="272175"/>
              <a:chOff x="0" y="0"/>
              <a:chExt cx="812800" cy="812800"/>
            </a:xfrm>
          </p:grpSpPr>
          <p:sp>
            <p:nvSpPr>
              <p:cNvPr name="Freeform 42" id="4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DEDED"/>
              </a:solidFill>
            </p:spPr>
          </p:sp>
          <p:sp>
            <p:nvSpPr>
              <p:cNvPr name="TextBox 43" id="43"/>
              <p:cNvSpPr txBox="true"/>
              <p:nvPr/>
            </p:nvSpPr>
            <p:spPr>
              <a:xfrm>
                <a:off x="76200" y="28575"/>
                <a:ext cx="660400" cy="708025"/>
              </a:xfrm>
              <a:prstGeom prst="rect">
                <a:avLst/>
              </a:prstGeom>
            </p:spPr>
            <p:txBody>
              <a:bodyPr anchor="ctr" rtlCol="false" tIns="114559" lIns="114559" bIns="114559" rIns="114559"/>
              <a:lstStyle/>
              <a:p>
                <a:pPr algn="ctr">
                  <a:lnSpc>
                    <a:spcPts val="2660"/>
                  </a:lnSpc>
                </a:pPr>
              </a:p>
            </p:txBody>
          </p:sp>
        </p:grpSp>
      </p:grpSp>
      <p:grpSp>
        <p:nvGrpSpPr>
          <p:cNvPr name="Group 44" id="44"/>
          <p:cNvGrpSpPr/>
          <p:nvPr/>
        </p:nvGrpSpPr>
        <p:grpSpPr>
          <a:xfrm rot="0">
            <a:off x="9837384" y="8231690"/>
            <a:ext cx="1585655" cy="1238141"/>
            <a:chOff x="0" y="0"/>
            <a:chExt cx="678958" cy="530157"/>
          </a:xfrm>
        </p:grpSpPr>
        <p:sp>
          <p:nvSpPr>
            <p:cNvPr name="Freeform 45" id="45"/>
            <p:cNvSpPr/>
            <p:nvPr/>
          </p:nvSpPr>
          <p:spPr>
            <a:xfrm flipH="false" flipV="false" rot="0">
              <a:off x="0" y="0"/>
              <a:ext cx="678958" cy="530157"/>
            </a:xfrm>
            <a:custGeom>
              <a:avLst/>
              <a:gdLst/>
              <a:ahLst/>
              <a:cxnLst/>
              <a:rect r="r" b="b" t="t" l="l"/>
              <a:pathLst>
                <a:path h="530157" w="678958">
                  <a:moveTo>
                    <a:pt x="0" y="0"/>
                  </a:moveTo>
                  <a:lnTo>
                    <a:pt x="678958" y="0"/>
                  </a:lnTo>
                  <a:lnTo>
                    <a:pt x="678958" y="530157"/>
                  </a:lnTo>
                  <a:lnTo>
                    <a:pt x="0" y="530157"/>
                  </a:lnTo>
                  <a:close/>
                </a:path>
              </a:pathLst>
            </a:custGeom>
            <a:ln w="57150" cap="sq">
              <a:solidFill>
                <a:srgbClr val="2B326B"/>
              </a:solidFill>
              <a:prstDash val="solid"/>
              <a:miter/>
            </a:ln>
          </p:spPr>
        </p:sp>
        <p:sp>
          <p:nvSpPr>
            <p:cNvPr name="TextBox 46" id="46"/>
            <p:cNvSpPr txBox="true"/>
            <p:nvPr/>
          </p:nvSpPr>
          <p:spPr>
            <a:xfrm>
              <a:off x="0" y="-47625"/>
              <a:ext cx="678958" cy="577782"/>
            </a:xfrm>
            <a:prstGeom prst="rect">
              <a:avLst/>
            </a:prstGeom>
          </p:spPr>
          <p:txBody>
            <a:bodyPr anchor="ctr" rtlCol="false" tIns="50800" lIns="50800" bIns="50800" rIns="50800"/>
            <a:lstStyle/>
            <a:p>
              <a:pPr algn="ctr">
                <a:lnSpc>
                  <a:spcPts val="2659"/>
                </a:lnSpc>
              </a:pPr>
            </a:p>
          </p:txBody>
        </p:sp>
      </p:grpSp>
      <p:sp>
        <p:nvSpPr>
          <p:cNvPr name="TextBox 47" id="47"/>
          <p:cNvSpPr txBox="true"/>
          <p:nvPr/>
        </p:nvSpPr>
        <p:spPr>
          <a:xfrm rot="0">
            <a:off x="9446352" y="8313495"/>
            <a:ext cx="2320198" cy="1045956"/>
          </a:xfrm>
          <a:prstGeom prst="rect">
            <a:avLst/>
          </a:prstGeom>
        </p:spPr>
        <p:txBody>
          <a:bodyPr anchor="t" rtlCol="false" tIns="0" lIns="0" bIns="0" rIns="0">
            <a:spAutoFit/>
          </a:bodyPr>
          <a:lstStyle/>
          <a:p>
            <a:pPr algn="ctr">
              <a:lnSpc>
                <a:spcPts val="8224"/>
              </a:lnSpc>
            </a:pPr>
            <a:r>
              <a:rPr lang="en-US" b="true" sz="6686" spc="367">
                <a:solidFill>
                  <a:srgbClr val="191C59"/>
                </a:solidFill>
                <a:latin typeface="Montaser Arabic Heavy"/>
                <a:ea typeface="Montaser Arabic Heavy"/>
                <a:cs typeface="Montaser Arabic Heavy"/>
                <a:sym typeface="Montaser Arabic Heavy"/>
              </a:rPr>
              <a:t>07</a:t>
            </a:r>
          </a:p>
        </p:txBody>
      </p:sp>
      <p:sp>
        <p:nvSpPr>
          <p:cNvPr name="TextBox 48" id="48"/>
          <p:cNvSpPr txBox="true"/>
          <p:nvPr/>
        </p:nvSpPr>
        <p:spPr>
          <a:xfrm rot="0">
            <a:off x="11489714" y="7750649"/>
            <a:ext cx="6586486" cy="2573567"/>
          </a:xfrm>
          <a:prstGeom prst="rect">
            <a:avLst/>
          </a:prstGeom>
        </p:spPr>
        <p:txBody>
          <a:bodyPr anchor="t" rtlCol="false" tIns="0" lIns="0" bIns="0" rIns="0">
            <a:spAutoFit/>
          </a:bodyPr>
          <a:lstStyle/>
          <a:p>
            <a:pPr algn="l">
              <a:lnSpc>
                <a:spcPts val="5149"/>
              </a:lnSpc>
              <a:spcBef>
                <a:spcPct val="0"/>
              </a:spcBef>
            </a:pPr>
            <a:r>
              <a:rPr lang="en-US" sz="3678">
                <a:solidFill>
                  <a:srgbClr val="191C59"/>
                </a:solidFill>
                <a:latin typeface="Mardoto"/>
                <a:ea typeface="Mardoto"/>
                <a:cs typeface="Mardoto"/>
                <a:sym typeface="Mardoto"/>
              </a:rPr>
              <a:t>Cual actividad de aprendizaje es la siguiente en mi proyecto, ¿cuántos y cuáles son los resultados de aprendizaje? </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EDEDED"/>
        </a:solidFill>
      </p:bgPr>
    </p:bg>
    <p:spTree>
      <p:nvGrpSpPr>
        <p:cNvPr id="1" name=""/>
        <p:cNvGrpSpPr/>
        <p:nvPr/>
      </p:nvGrpSpPr>
      <p:grpSpPr>
        <a:xfrm>
          <a:off x="0" y="0"/>
          <a:ext cx="0" cy="0"/>
          <a:chOff x="0" y="0"/>
          <a:chExt cx="0" cy="0"/>
        </a:xfrm>
      </p:grpSpPr>
      <p:grpSp>
        <p:nvGrpSpPr>
          <p:cNvPr name="Group 2" id="2"/>
          <p:cNvGrpSpPr/>
          <p:nvPr/>
        </p:nvGrpSpPr>
        <p:grpSpPr>
          <a:xfrm rot="0">
            <a:off x="3832125" y="2538110"/>
            <a:ext cx="11449610" cy="1790989"/>
            <a:chOff x="0" y="0"/>
            <a:chExt cx="3015535" cy="471701"/>
          </a:xfrm>
        </p:grpSpPr>
        <p:sp>
          <p:nvSpPr>
            <p:cNvPr name="Freeform 3" id="3"/>
            <p:cNvSpPr/>
            <p:nvPr/>
          </p:nvSpPr>
          <p:spPr>
            <a:xfrm flipH="false" flipV="false" rot="0">
              <a:off x="0" y="0"/>
              <a:ext cx="3015535" cy="471701"/>
            </a:xfrm>
            <a:custGeom>
              <a:avLst/>
              <a:gdLst/>
              <a:ahLst/>
              <a:cxnLst/>
              <a:rect r="r" b="b" t="t" l="l"/>
              <a:pathLst>
                <a:path h="471701" w="3015535">
                  <a:moveTo>
                    <a:pt x="0" y="0"/>
                  </a:moveTo>
                  <a:lnTo>
                    <a:pt x="3015535" y="0"/>
                  </a:lnTo>
                  <a:lnTo>
                    <a:pt x="3015535" y="471701"/>
                  </a:lnTo>
                  <a:lnTo>
                    <a:pt x="0" y="471701"/>
                  </a:lnTo>
                  <a:close/>
                </a:path>
              </a:pathLst>
            </a:custGeom>
            <a:ln w="104775" cap="sq">
              <a:solidFill>
                <a:srgbClr val="2B326B"/>
              </a:solidFill>
              <a:prstDash val="solid"/>
              <a:miter/>
            </a:ln>
          </p:spPr>
        </p:sp>
        <p:sp>
          <p:nvSpPr>
            <p:cNvPr name="TextBox 4" id="4"/>
            <p:cNvSpPr txBox="true"/>
            <p:nvPr/>
          </p:nvSpPr>
          <p:spPr>
            <a:xfrm>
              <a:off x="0" y="-47625"/>
              <a:ext cx="3015535" cy="519326"/>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3832125" y="2796713"/>
            <a:ext cx="11283067" cy="1337255"/>
          </a:xfrm>
          <a:prstGeom prst="rect">
            <a:avLst/>
          </a:prstGeom>
        </p:spPr>
        <p:txBody>
          <a:bodyPr anchor="t" rtlCol="false" tIns="0" lIns="0" bIns="0" rIns="0">
            <a:spAutoFit/>
          </a:bodyPr>
          <a:lstStyle/>
          <a:p>
            <a:pPr algn="ctr" marL="1874887" indent="-937443" lvl="1">
              <a:lnSpc>
                <a:spcPts val="10681"/>
              </a:lnSpc>
              <a:buAutoNum type="arabicPeriod" startAt="1"/>
            </a:pPr>
            <a:r>
              <a:rPr lang="en-US" b="true" sz="8684">
                <a:solidFill>
                  <a:srgbClr val="191C59"/>
                </a:solidFill>
                <a:latin typeface="Montaser Arabic Bold"/>
                <a:ea typeface="Montaser Arabic Bold"/>
                <a:cs typeface="Montaser Arabic Bold"/>
                <a:sym typeface="Montaser Arabic Bold"/>
              </a:rPr>
              <a:t>JUSTIFICACION</a:t>
            </a:r>
          </a:p>
        </p:txBody>
      </p:sp>
      <p:grpSp>
        <p:nvGrpSpPr>
          <p:cNvPr name="Group 6" id="6"/>
          <p:cNvGrpSpPr/>
          <p:nvPr/>
        </p:nvGrpSpPr>
        <p:grpSpPr>
          <a:xfrm rot="0">
            <a:off x="-1760233" y="-877303"/>
            <a:ext cx="3086100" cy="12041606"/>
            <a:chOff x="0" y="0"/>
            <a:chExt cx="812800" cy="3171452"/>
          </a:xfrm>
        </p:grpSpPr>
        <p:sp>
          <p:nvSpPr>
            <p:cNvPr name="Freeform 7" id="7"/>
            <p:cNvSpPr/>
            <p:nvPr/>
          </p:nvSpPr>
          <p:spPr>
            <a:xfrm flipH="false" flipV="false" rot="0">
              <a:off x="0" y="0"/>
              <a:ext cx="812800" cy="3171452"/>
            </a:xfrm>
            <a:custGeom>
              <a:avLst/>
              <a:gdLst/>
              <a:ahLst/>
              <a:cxnLst/>
              <a:rect r="r" b="b" t="t" l="l"/>
              <a:pathLst>
                <a:path h="3171452" w="812800">
                  <a:moveTo>
                    <a:pt x="0" y="0"/>
                  </a:moveTo>
                  <a:lnTo>
                    <a:pt x="812800" y="0"/>
                  </a:lnTo>
                  <a:lnTo>
                    <a:pt x="812800" y="3171452"/>
                  </a:lnTo>
                  <a:lnTo>
                    <a:pt x="0" y="3171452"/>
                  </a:lnTo>
                  <a:close/>
                </a:path>
              </a:pathLst>
            </a:custGeom>
            <a:solidFill>
              <a:srgbClr val="2B326B"/>
            </a:solidFill>
          </p:spPr>
        </p:sp>
        <p:sp>
          <p:nvSpPr>
            <p:cNvPr name="TextBox 8" id="8"/>
            <p:cNvSpPr txBox="true"/>
            <p:nvPr/>
          </p:nvSpPr>
          <p:spPr>
            <a:xfrm>
              <a:off x="0" y="-47625"/>
              <a:ext cx="812800" cy="3219077"/>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7259300" y="-381233"/>
            <a:ext cx="1306415" cy="1409933"/>
            <a:chOff x="0" y="0"/>
            <a:chExt cx="476073" cy="513796"/>
          </a:xfrm>
        </p:grpSpPr>
        <p:sp>
          <p:nvSpPr>
            <p:cNvPr name="Freeform 10" id="10"/>
            <p:cNvSpPr/>
            <p:nvPr/>
          </p:nvSpPr>
          <p:spPr>
            <a:xfrm flipH="false" flipV="false" rot="0">
              <a:off x="0" y="0"/>
              <a:ext cx="476073" cy="513796"/>
            </a:xfrm>
            <a:custGeom>
              <a:avLst/>
              <a:gdLst/>
              <a:ahLst/>
              <a:cxnLst/>
              <a:rect r="r" b="b" t="t" l="l"/>
              <a:pathLst>
                <a:path h="513796" w="476073">
                  <a:moveTo>
                    <a:pt x="0" y="0"/>
                  </a:moveTo>
                  <a:lnTo>
                    <a:pt x="476073" y="0"/>
                  </a:lnTo>
                  <a:lnTo>
                    <a:pt x="476073" y="513796"/>
                  </a:lnTo>
                  <a:lnTo>
                    <a:pt x="0" y="513796"/>
                  </a:lnTo>
                  <a:close/>
                </a:path>
              </a:pathLst>
            </a:custGeom>
            <a:solidFill>
              <a:srgbClr val="2B326B"/>
            </a:solidFill>
          </p:spPr>
        </p:sp>
        <p:sp>
          <p:nvSpPr>
            <p:cNvPr name="TextBox 11" id="11"/>
            <p:cNvSpPr txBox="true"/>
            <p:nvPr/>
          </p:nvSpPr>
          <p:spPr>
            <a:xfrm>
              <a:off x="0" y="-47625"/>
              <a:ext cx="476073" cy="561421"/>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15281735" y="9258300"/>
            <a:ext cx="3653828" cy="2430717"/>
            <a:chOff x="0" y="0"/>
            <a:chExt cx="962325" cy="640189"/>
          </a:xfrm>
        </p:grpSpPr>
        <p:sp>
          <p:nvSpPr>
            <p:cNvPr name="Freeform 13" id="13"/>
            <p:cNvSpPr/>
            <p:nvPr/>
          </p:nvSpPr>
          <p:spPr>
            <a:xfrm flipH="false" flipV="false" rot="0">
              <a:off x="0" y="0"/>
              <a:ext cx="962325" cy="640189"/>
            </a:xfrm>
            <a:custGeom>
              <a:avLst/>
              <a:gdLst/>
              <a:ahLst/>
              <a:cxnLst/>
              <a:rect r="r" b="b" t="t" l="l"/>
              <a:pathLst>
                <a:path h="640189" w="962325">
                  <a:moveTo>
                    <a:pt x="0" y="0"/>
                  </a:moveTo>
                  <a:lnTo>
                    <a:pt x="962325" y="0"/>
                  </a:lnTo>
                  <a:lnTo>
                    <a:pt x="962325" y="640189"/>
                  </a:lnTo>
                  <a:lnTo>
                    <a:pt x="0" y="640189"/>
                  </a:lnTo>
                  <a:close/>
                </a:path>
              </a:pathLst>
            </a:custGeom>
            <a:solidFill>
              <a:srgbClr val="2B326B"/>
            </a:solidFill>
          </p:spPr>
        </p:sp>
        <p:sp>
          <p:nvSpPr>
            <p:cNvPr name="TextBox 14" id="14"/>
            <p:cNvSpPr txBox="true"/>
            <p:nvPr/>
          </p:nvSpPr>
          <p:spPr>
            <a:xfrm>
              <a:off x="0" y="-47625"/>
              <a:ext cx="962325" cy="687814"/>
            </a:xfrm>
            <a:prstGeom prst="rect">
              <a:avLst/>
            </a:prstGeom>
          </p:spPr>
          <p:txBody>
            <a:bodyPr anchor="ctr" rtlCol="false" tIns="50800" lIns="50800" bIns="50800" rIns="50800"/>
            <a:lstStyle/>
            <a:p>
              <a:pPr algn="ctr">
                <a:lnSpc>
                  <a:spcPts val="2659"/>
                </a:lnSpc>
              </a:pPr>
            </a:p>
          </p:txBody>
        </p:sp>
      </p:grpSp>
      <p:sp>
        <p:nvSpPr>
          <p:cNvPr name="TextBox 15" id="15"/>
          <p:cNvSpPr txBox="true"/>
          <p:nvPr/>
        </p:nvSpPr>
        <p:spPr>
          <a:xfrm rot="0">
            <a:off x="2294658" y="4452665"/>
            <a:ext cx="15345116" cy="4993641"/>
          </a:xfrm>
          <a:prstGeom prst="rect">
            <a:avLst/>
          </a:prstGeom>
        </p:spPr>
        <p:txBody>
          <a:bodyPr anchor="t" rtlCol="false" tIns="0" lIns="0" bIns="0" rIns="0">
            <a:spAutoFit/>
          </a:bodyPr>
          <a:lstStyle/>
          <a:p>
            <a:pPr algn="just">
              <a:lnSpc>
                <a:spcPts val="4900"/>
              </a:lnSpc>
            </a:pPr>
            <a:r>
              <a:rPr lang="en-US" sz="3500">
                <a:solidFill>
                  <a:srgbClr val="191C59"/>
                </a:solidFill>
                <a:latin typeface="Mardoto"/>
                <a:ea typeface="Mardoto"/>
                <a:cs typeface="Mardoto"/>
                <a:sym typeface="Mardoto"/>
              </a:rPr>
              <a:t>La pertinencia de nuestro proyecto frente a la formación en ADSO se justifica porque me permite aplicar los conocimientos adquiridos en programación, bases de datos y análisis de requerimientos para desarrollar soluciones tecnológicas reales. A través de este proyecto fortalezco mis habilidades en pensamiento lógico, resolución de problemas y diseño de software, demostrando que estoy preparado para enfrentar los retos del entorno laboral en el área de desarrollo de software.</a:t>
            </a:r>
          </a:p>
          <a:p>
            <a:pPr algn="just">
              <a:lnSpc>
                <a:spcPts val="5319"/>
              </a:lnSpc>
              <a:spcBef>
                <a:spcPct val="0"/>
              </a:spcBef>
            </a:pPr>
          </a:p>
        </p:txBody>
      </p:sp>
      <p:grpSp>
        <p:nvGrpSpPr>
          <p:cNvPr name="Group 16" id="16"/>
          <p:cNvGrpSpPr/>
          <p:nvPr/>
        </p:nvGrpSpPr>
        <p:grpSpPr>
          <a:xfrm rot="0">
            <a:off x="548500" y="741664"/>
            <a:ext cx="204131" cy="1145622"/>
            <a:chOff x="0" y="0"/>
            <a:chExt cx="272175" cy="1527496"/>
          </a:xfrm>
        </p:grpSpPr>
        <p:grpSp>
          <p:nvGrpSpPr>
            <p:cNvPr name="Group 17" id="17"/>
            <p:cNvGrpSpPr/>
            <p:nvPr/>
          </p:nvGrpSpPr>
          <p:grpSpPr>
            <a:xfrm rot="0">
              <a:off x="0" y="0"/>
              <a:ext cx="272175" cy="272175"/>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DEDED"/>
              </a:solidFill>
            </p:spPr>
          </p:sp>
          <p:sp>
            <p:nvSpPr>
              <p:cNvPr name="TextBox 19" id="19"/>
              <p:cNvSpPr txBox="true"/>
              <p:nvPr/>
            </p:nvSpPr>
            <p:spPr>
              <a:xfrm>
                <a:off x="76200" y="28575"/>
                <a:ext cx="660400" cy="708025"/>
              </a:xfrm>
              <a:prstGeom prst="rect">
                <a:avLst/>
              </a:prstGeom>
            </p:spPr>
            <p:txBody>
              <a:bodyPr anchor="ctr" rtlCol="false" tIns="114559" lIns="114559" bIns="114559" rIns="114559"/>
              <a:lstStyle/>
              <a:p>
                <a:pPr algn="ctr">
                  <a:lnSpc>
                    <a:spcPts val="2660"/>
                  </a:lnSpc>
                </a:pPr>
              </a:p>
            </p:txBody>
          </p:sp>
        </p:grpSp>
        <p:grpSp>
          <p:nvGrpSpPr>
            <p:cNvPr name="Group 20" id="20"/>
            <p:cNvGrpSpPr/>
            <p:nvPr/>
          </p:nvGrpSpPr>
          <p:grpSpPr>
            <a:xfrm rot="0">
              <a:off x="0" y="627661"/>
              <a:ext cx="272175" cy="272175"/>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DEDED"/>
              </a:solidFill>
            </p:spPr>
          </p:sp>
          <p:sp>
            <p:nvSpPr>
              <p:cNvPr name="TextBox 22" id="22"/>
              <p:cNvSpPr txBox="true"/>
              <p:nvPr/>
            </p:nvSpPr>
            <p:spPr>
              <a:xfrm>
                <a:off x="76200" y="28575"/>
                <a:ext cx="660400" cy="708025"/>
              </a:xfrm>
              <a:prstGeom prst="rect">
                <a:avLst/>
              </a:prstGeom>
            </p:spPr>
            <p:txBody>
              <a:bodyPr anchor="ctr" rtlCol="false" tIns="114559" lIns="114559" bIns="114559" rIns="114559"/>
              <a:lstStyle/>
              <a:p>
                <a:pPr algn="ctr">
                  <a:lnSpc>
                    <a:spcPts val="2660"/>
                  </a:lnSpc>
                </a:pPr>
              </a:p>
            </p:txBody>
          </p:sp>
        </p:grpSp>
        <p:grpSp>
          <p:nvGrpSpPr>
            <p:cNvPr name="Group 23" id="23"/>
            <p:cNvGrpSpPr/>
            <p:nvPr/>
          </p:nvGrpSpPr>
          <p:grpSpPr>
            <a:xfrm rot="0">
              <a:off x="0" y="1255321"/>
              <a:ext cx="272175" cy="272175"/>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DEDED"/>
              </a:solidFill>
            </p:spPr>
          </p:sp>
          <p:sp>
            <p:nvSpPr>
              <p:cNvPr name="TextBox 25" id="25"/>
              <p:cNvSpPr txBox="true"/>
              <p:nvPr/>
            </p:nvSpPr>
            <p:spPr>
              <a:xfrm>
                <a:off x="76200" y="28575"/>
                <a:ext cx="660400" cy="708025"/>
              </a:xfrm>
              <a:prstGeom prst="rect">
                <a:avLst/>
              </a:prstGeom>
            </p:spPr>
            <p:txBody>
              <a:bodyPr anchor="ctr" rtlCol="false" tIns="114559" lIns="114559" bIns="114559" rIns="114559"/>
              <a:lstStyle/>
              <a:p>
                <a:pPr algn="ctr">
                  <a:lnSpc>
                    <a:spcPts val="2660"/>
                  </a:lnSpc>
                </a:pPr>
              </a:p>
            </p:txBody>
          </p:sp>
        </p:grpSp>
      </p:grpSp>
      <p:grpSp>
        <p:nvGrpSpPr>
          <p:cNvPr name="Group 26" id="26"/>
          <p:cNvGrpSpPr/>
          <p:nvPr/>
        </p:nvGrpSpPr>
        <p:grpSpPr>
          <a:xfrm rot="5400000">
            <a:off x="16433772" y="9184851"/>
            <a:ext cx="204131" cy="1145622"/>
            <a:chOff x="0" y="0"/>
            <a:chExt cx="272175" cy="1527496"/>
          </a:xfrm>
        </p:grpSpPr>
        <p:grpSp>
          <p:nvGrpSpPr>
            <p:cNvPr name="Group 27" id="27"/>
            <p:cNvGrpSpPr/>
            <p:nvPr/>
          </p:nvGrpSpPr>
          <p:grpSpPr>
            <a:xfrm rot="0">
              <a:off x="0" y="0"/>
              <a:ext cx="272175" cy="272175"/>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DEDED"/>
              </a:solidFill>
            </p:spPr>
          </p:sp>
          <p:sp>
            <p:nvSpPr>
              <p:cNvPr name="TextBox 29" id="29"/>
              <p:cNvSpPr txBox="true"/>
              <p:nvPr/>
            </p:nvSpPr>
            <p:spPr>
              <a:xfrm>
                <a:off x="76200" y="28575"/>
                <a:ext cx="660400" cy="708025"/>
              </a:xfrm>
              <a:prstGeom prst="rect">
                <a:avLst/>
              </a:prstGeom>
            </p:spPr>
            <p:txBody>
              <a:bodyPr anchor="ctr" rtlCol="false" tIns="114559" lIns="114559" bIns="114559" rIns="114559"/>
              <a:lstStyle/>
              <a:p>
                <a:pPr algn="ctr">
                  <a:lnSpc>
                    <a:spcPts val="2660"/>
                  </a:lnSpc>
                </a:pPr>
              </a:p>
            </p:txBody>
          </p:sp>
        </p:grpSp>
        <p:grpSp>
          <p:nvGrpSpPr>
            <p:cNvPr name="Group 30" id="30"/>
            <p:cNvGrpSpPr/>
            <p:nvPr/>
          </p:nvGrpSpPr>
          <p:grpSpPr>
            <a:xfrm rot="0">
              <a:off x="0" y="627661"/>
              <a:ext cx="272175" cy="272175"/>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DEDED"/>
              </a:solidFill>
            </p:spPr>
          </p:sp>
          <p:sp>
            <p:nvSpPr>
              <p:cNvPr name="TextBox 32" id="32"/>
              <p:cNvSpPr txBox="true"/>
              <p:nvPr/>
            </p:nvSpPr>
            <p:spPr>
              <a:xfrm>
                <a:off x="76200" y="28575"/>
                <a:ext cx="660400" cy="708025"/>
              </a:xfrm>
              <a:prstGeom prst="rect">
                <a:avLst/>
              </a:prstGeom>
            </p:spPr>
            <p:txBody>
              <a:bodyPr anchor="ctr" rtlCol="false" tIns="114559" lIns="114559" bIns="114559" rIns="114559"/>
              <a:lstStyle/>
              <a:p>
                <a:pPr algn="ctr">
                  <a:lnSpc>
                    <a:spcPts val="2660"/>
                  </a:lnSpc>
                </a:pPr>
              </a:p>
            </p:txBody>
          </p:sp>
        </p:grpSp>
        <p:grpSp>
          <p:nvGrpSpPr>
            <p:cNvPr name="Group 33" id="33"/>
            <p:cNvGrpSpPr/>
            <p:nvPr/>
          </p:nvGrpSpPr>
          <p:grpSpPr>
            <a:xfrm rot="0">
              <a:off x="0" y="1255321"/>
              <a:ext cx="272175" cy="272175"/>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DEDED"/>
              </a:solidFill>
            </p:spPr>
          </p:sp>
          <p:sp>
            <p:nvSpPr>
              <p:cNvPr name="TextBox 35" id="35"/>
              <p:cNvSpPr txBox="true"/>
              <p:nvPr/>
            </p:nvSpPr>
            <p:spPr>
              <a:xfrm>
                <a:off x="76200" y="28575"/>
                <a:ext cx="660400" cy="708025"/>
              </a:xfrm>
              <a:prstGeom prst="rect">
                <a:avLst/>
              </a:prstGeom>
            </p:spPr>
            <p:txBody>
              <a:bodyPr anchor="ctr" rtlCol="false" tIns="114559" lIns="114559" bIns="114559" rIns="114559"/>
              <a:lstStyle/>
              <a:p>
                <a:pPr algn="ctr">
                  <a:lnSpc>
                    <a:spcPts val="2660"/>
                  </a:lnSpc>
                </a:pPr>
              </a:p>
            </p:txBody>
          </p:sp>
        </p:gr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2B326B"/>
        </a:solidFill>
      </p:bgPr>
    </p:bg>
    <p:spTree>
      <p:nvGrpSpPr>
        <p:cNvPr id="1" name=""/>
        <p:cNvGrpSpPr/>
        <p:nvPr/>
      </p:nvGrpSpPr>
      <p:grpSpPr>
        <a:xfrm>
          <a:off x="0" y="0"/>
          <a:ext cx="0" cy="0"/>
          <a:chOff x="0" y="0"/>
          <a:chExt cx="0" cy="0"/>
        </a:xfrm>
      </p:grpSpPr>
      <p:grpSp>
        <p:nvGrpSpPr>
          <p:cNvPr name="Group 2" id="2"/>
          <p:cNvGrpSpPr/>
          <p:nvPr/>
        </p:nvGrpSpPr>
        <p:grpSpPr>
          <a:xfrm rot="0">
            <a:off x="1379068" y="1203292"/>
            <a:ext cx="7968313" cy="2700246"/>
            <a:chOff x="0" y="0"/>
            <a:chExt cx="2629376" cy="891025"/>
          </a:xfrm>
        </p:grpSpPr>
        <p:sp>
          <p:nvSpPr>
            <p:cNvPr name="Freeform 3" id="3"/>
            <p:cNvSpPr/>
            <p:nvPr/>
          </p:nvSpPr>
          <p:spPr>
            <a:xfrm flipH="false" flipV="false" rot="0">
              <a:off x="0" y="0"/>
              <a:ext cx="2629377" cy="891025"/>
            </a:xfrm>
            <a:custGeom>
              <a:avLst/>
              <a:gdLst/>
              <a:ahLst/>
              <a:cxnLst/>
              <a:rect r="r" b="b" t="t" l="l"/>
              <a:pathLst>
                <a:path h="891025" w="2629377">
                  <a:moveTo>
                    <a:pt x="0" y="0"/>
                  </a:moveTo>
                  <a:lnTo>
                    <a:pt x="2629377" y="0"/>
                  </a:lnTo>
                  <a:lnTo>
                    <a:pt x="2629377" y="891025"/>
                  </a:lnTo>
                  <a:lnTo>
                    <a:pt x="0" y="891025"/>
                  </a:lnTo>
                  <a:close/>
                </a:path>
              </a:pathLst>
            </a:custGeom>
            <a:ln w="104775" cap="sq">
              <a:solidFill>
                <a:srgbClr val="EDEDED"/>
              </a:solidFill>
              <a:prstDash val="solid"/>
              <a:miter/>
            </a:ln>
          </p:spPr>
        </p:sp>
        <p:sp>
          <p:nvSpPr>
            <p:cNvPr name="TextBox 4" id="4"/>
            <p:cNvSpPr txBox="true"/>
            <p:nvPr/>
          </p:nvSpPr>
          <p:spPr>
            <a:xfrm>
              <a:off x="0" y="-47625"/>
              <a:ext cx="2629376" cy="93865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1993077" y="-6535153"/>
            <a:ext cx="3086100" cy="12041606"/>
            <a:chOff x="0" y="0"/>
            <a:chExt cx="812800" cy="3171452"/>
          </a:xfrm>
        </p:grpSpPr>
        <p:sp>
          <p:nvSpPr>
            <p:cNvPr name="Freeform 6" id="6"/>
            <p:cNvSpPr/>
            <p:nvPr/>
          </p:nvSpPr>
          <p:spPr>
            <a:xfrm flipH="false" flipV="false" rot="0">
              <a:off x="0" y="0"/>
              <a:ext cx="812800" cy="3171452"/>
            </a:xfrm>
            <a:custGeom>
              <a:avLst/>
              <a:gdLst/>
              <a:ahLst/>
              <a:cxnLst/>
              <a:rect r="r" b="b" t="t" l="l"/>
              <a:pathLst>
                <a:path h="3171452" w="812800">
                  <a:moveTo>
                    <a:pt x="0" y="0"/>
                  </a:moveTo>
                  <a:lnTo>
                    <a:pt x="812800" y="0"/>
                  </a:lnTo>
                  <a:lnTo>
                    <a:pt x="812800" y="3171452"/>
                  </a:lnTo>
                  <a:lnTo>
                    <a:pt x="0" y="3171452"/>
                  </a:lnTo>
                  <a:close/>
                </a:path>
              </a:pathLst>
            </a:custGeom>
            <a:solidFill>
              <a:srgbClr val="EDEDED"/>
            </a:solidFill>
          </p:spPr>
        </p:sp>
        <p:sp>
          <p:nvSpPr>
            <p:cNvPr name="TextBox 7" id="7"/>
            <p:cNvSpPr txBox="true"/>
            <p:nvPr/>
          </p:nvSpPr>
          <p:spPr>
            <a:xfrm>
              <a:off x="0" y="-47625"/>
              <a:ext cx="812800" cy="3219077"/>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4889506" y="9258300"/>
            <a:ext cx="4046056" cy="2430717"/>
            <a:chOff x="0" y="0"/>
            <a:chExt cx="1065628" cy="640189"/>
          </a:xfrm>
        </p:grpSpPr>
        <p:sp>
          <p:nvSpPr>
            <p:cNvPr name="Freeform 9" id="9"/>
            <p:cNvSpPr/>
            <p:nvPr/>
          </p:nvSpPr>
          <p:spPr>
            <a:xfrm flipH="false" flipV="false" rot="0">
              <a:off x="0" y="0"/>
              <a:ext cx="1065628" cy="640189"/>
            </a:xfrm>
            <a:custGeom>
              <a:avLst/>
              <a:gdLst/>
              <a:ahLst/>
              <a:cxnLst/>
              <a:rect r="r" b="b" t="t" l="l"/>
              <a:pathLst>
                <a:path h="640189" w="1065628">
                  <a:moveTo>
                    <a:pt x="0" y="0"/>
                  </a:moveTo>
                  <a:lnTo>
                    <a:pt x="1065628" y="0"/>
                  </a:lnTo>
                  <a:lnTo>
                    <a:pt x="1065628" y="640189"/>
                  </a:lnTo>
                  <a:lnTo>
                    <a:pt x="0" y="640189"/>
                  </a:lnTo>
                  <a:close/>
                </a:path>
              </a:pathLst>
            </a:custGeom>
            <a:solidFill>
              <a:srgbClr val="EDEDED"/>
            </a:solidFill>
          </p:spPr>
        </p:sp>
        <p:sp>
          <p:nvSpPr>
            <p:cNvPr name="TextBox 10" id="10"/>
            <p:cNvSpPr txBox="true"/>
            <p:nvPr/>
          </p:nvSpPr>
          <p:spPr>
            <a:xfrm>
              <a:off x="0" y="-47625"/>
              <a:ext cx="1065628" cy="687814"/>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0" y="4214494"/>
            <a:ext cx="17621862" cy="6188075"/>
          </a:xfrm>
          <a:prstGeom prst="rect">
            <a:avLst/>
          </a:prstGeom>
        </p:spPr>
        <p:txBody>
          <a:bodyPr anchor="t" rtlCol="false" tIns="0" lIns="0" bIns="0" rIns="0">
            <a:spAutoFit/>
          </a:bodyPr>
          <a:lstStyle/>
          <a:p>
            <a:pPr algn="just" marL="755651" indent="-377825" lvl="1">
              <a:lnSpc>
                <a:spcPts val="4900"/>
              </a:lnSpc>
              <a:buAutoNum type="arabicPeriod" startAt="1"/>
            </a:pPr>
            <a:r>
              <a:rPr lang="en-US" sz="3500">
                <a:solidFill>
                  <a:srgbClr val="FFFFFF"/>
                </a:solidFill>
                <a:latin typeface="Mardoto"/>
                <a:ea typeface="Mardoto"/>
                <a:cs typeface="Mardoto"/>
                <a:sym typeface="Mardoto"/>
              </a:rPr>
              <a:t>Análisis de requerimientos: Identifico las necesidades del usuario y defino qué debe hacer el sistema.</a:t>
            </a:r>
          </a:p>
          <a:p>
            <a:pPr algn="just" marL="755651" indent="-377825" lvl="1">
              <a:lnSpc>
                <a:spcPts val="4900"/>
              </a:lnSpc>
              <a:buAutoNum type="arabicPeriod" startAt="1"/>
            </a:pPr>
            <a:r>
              <a:rPr lang="en-US" sz="3500">
                <a:solidFill>
                  <a:srgbClr val="FFFFFF"/>
                </a:solidFill>
                <a:latin typeface="Mardoto"/>
                <a:ea typeface="Mardoto"/>
                <a:cs typeface="Mardoto"/>
                <a:sym typeface="Mardoto"/>
              </a:rPr>
              <a:t>Diseño del sistema: Estructuro la solución, elaboro diagramas, diseño la base de datos y la arquitectura del software.</a:t>
            </a:r>
          </a:p>
          <a:p>
            <a:pPr algn="just" marL="755651" indent="-377825" lvl="1">
              <a:lnSpc>
                <a:spcPts val="4900"/>
              </a:lnSpc>
              <a:buAutoNum type="arabicPeriod" startAt="1"/>
            </a:pPr>
            <a:r>
              <a:rPr lang="en-US" sz="3500">
                <a:solidFill>
                  <a:srgbClr val="FFFFFF"/>
                </a:solidFill>
                <a:latin typeface="Mardoto"/>
                <a:ea typeface="Mardoto"/>
                <a:cs typeface="Mardoto"/>
                <a:sym typeface="Mardoto"/>
              </a:rPr>
              <a:t>Desarrollo o implementación: Programo la aplicación según los requerimientos establecidos.</a:t>
            </a:r>
          </a:p>
          <a:p>
            <a:pPr algn="just" marL="755651" indent="-377825" lvl="1">
              <a:lnSpc>
                <a:spcPts val="4900"/>
              </a:lnSpc>
              <a:buAutoNum type="arabicPeriod" startAt="1"/>
            </a:pPr>
            <a:r>
              <a:rPr lang="en-US" sz="3500">
                <a:solidFill>
                  <a:srgbClr val="FFFFFF"/>
                </a:solidFill>
                <a:latin typeface="Mardoto"/>
                <a:ea typeface="Mardoto"/>
                <a:cs typeface="Mardoto"/>
                <a:sym typeface="Mardoto"/>
              </a:rPr>
              <a:t>Pruebas: Verifico que el sistema funcione correctamente y corrijo errores.</a:t>
            </a:r>
          </a:p>
          <a:p>
            <a:pPr algn="just" marL="755651" indent="-377825" lvl="1">
              <a:lnSpc>
                <a:spcPts val="4900"/>
              </a:lnSpc>
              <a:buAutoNum type="arabicPeriod" startAt="1"/>
            </a:pPr>
            <a:r>
              <a:rPr lang="en-US" sz="3500">
                <a:solidFill>
                  <a:srgbClr val="FFFFFF"/>
                </a:solidFill>
                <a:latin typeface="Mardoto"/>
                <a:ea typeface="Mardoto"/>
                <a:cs typeface="Mardoto"/>
                <a:sym typeface="Mardoto"/>
              </a:rPr>
              <a:t>Despliegue y mantenimiento: Publico el sistema y realizo mejoras o ajustes cuando sea necesario.</a:t>
            </a:r>
          </a:p>
          <a:p>
            <a:pPr algn="just">
              <a:lnSpc>
                <a:spcPts val="4900"/>
              </a:lnSpc>
              <a:spcBef>
                <a:spcPct val="0"/>
              </a:spcBef>
            </a:pPr>
          </a:p>
        </p:txBody>
      </p:sp>
      <p:grpSp>
        <p:nvGrpSpPr>
          <p:cNvPr name="Group 12" id="12"/>
          <p:cNvGrpSpPr/>
          <p:nvPr/>
        </p:nvGrpSpPr>
        <p:grpSpPr>
          <a:xfrm rot="0">
            <a:off x="11156621" y="469746"/>
            <a:ext cx="6656162" cy="3439243"/>
            <a:chOff x="0" y="0"/>
            <a:chExt cx="1031214" cy="532829"/>
          </a:xfrm>
        </p:grpSpPr>
        <p:sp>
          <p:nvSpPr>
            <p:cNvPr name="Freeform 13" id="13"/>
            <p:cNvSpPr/>
            <p:nvPr/>
          </p:nvSpPr>
          <p:spPr>
            <a:xfrm flipH="false" flipV="false" rot="0">
              <a:off x="0" y="0"/>
              <a:ext cx="1031214" cy="532829"/>
            </a:xfrm>
            <a:custGeom>
              <a:avLst/>
              <a:gdLst/>
              <a:ahLst/>
              <a:cxnLst/>
              <a:rect r="r" b="b" t="t" l="l"/>
              <a:pathLst>
                <a:path h="532829" w="1031214">
                  <a:moveTo>
                    <a:pt x="0" y="0"/>
                  </a:moveTo>
                  <a:lnTo>
                    <a:pt x="1031214" y="0"/>
                  </a:lnTo>
                  <a:lnTo>
                    <a:pt x="1031214" y="532829"/>
                  </a:lnTo>
                  <a:lnTo>
                    <a:pt x="0" y="532829"/>
                  </a:lnTo>
                  <a:close/>
                </a:path>
              </a:pathLst>
            </a:custGeom>
            <a:blipFill>
              <a:blip r:embed="rId2"/>
              <a:stretch>
                <a:fillRect l="-32015" t="0" r="-32015" b="0"/>
              </a:stretch>
            </a:blipFill>
            <a:ln w="85725" cap="sq">
              <a:solidFill>
                <a:srgbClr val="EDEDED"/>
              </a:solidFill>
              <a:prstDash val="solid"/>
              <a:miter/>
            </a:ln>
          </p:spPr>
        </p:sp>
      </p:grpSp>
      <p:grpSp>
        <p:nvGrpSpPr>
          <p:cNvPr name="Group 14" id="14"/>
          <p:cNvGrpSpPr/>
          <p:nvPr/>
        </p:nvGrpSpPr>
        <p:grpSpPr>
          <a:xfrm rot="-5400000">
            <a:off x="1239612" y="-1000"/>
            <a:ext cx="204131" cy="1145622"/>
            <a:chOff x="0" y="0"/>
            <a:chExt cx="272175" cy="1527496"/>
          </a:xfrm>
        </p:grpSpPr>
        <p:grpSp>
          <p:nvGrpSpPr>
            <p:cNvPr name="Group 15" id="15"/>
            <p:cNvGrpSpPr/>
            <p:nvPr/>
          </p:nvGrpSpPr>
          <p:grpSpPr>
            <a:xfrm rot="0">
              <a:off x="0" y="0"/>
              <a:ext cx="272175" cy="272175"/>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91C59"/>
              </a:solidFill>
            </p:spPr>
          </p:sp>
          <p:sp>
            <p:nvSpPr>
              <p:cNvPr name="TextBox 17" id="17"/>
              <p:cNvSpPr txBox="true"/>
              <p:nvPr/>
            </p:nvSpPr>
            <p:spPr>
              <a:xfrm>
                <a:off x="76200" y="28575"/>
                <a:ext cx="660400" cy="708025"/>
              </a:xfrm>
              <a:prstGeom prst="rect">
                <a:avLst/>
              </a:prstGeom>
            </p:spPr>
            <p:txBody>
              <a:bodyPr anchor="ctr" rtlCol="false" tIns="114559" lIns="114559" bIns="114559" rIns="114559"/>
              <a:lstStyle/>
              <a:p>
                <a:pPr algn="ctr">
                  <a:lnSpc>
                    <a:spcPts val="2660"/>
                  </a:lnSpc>
                </a:pPr>
              </a:p>
            </p:txBody>
          </p:sp>
        </p:grpSp>
        <p:grpSp>
          <p:nvGrpSpPr>
            <p:cNvPr name="Group 18" id="18"/>
            <p:cNvGrpSpPr/>
            <p:nvPr/>
          </p:nvGrpSpPr>
          <p:grpSpPr>
            <a:xfrm rot="0">
              <a:off x="0" y="627661"/>
              <a:ext cx="272175" cy="272175"/>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91C59"/>
              </a:solidFill>
            </p:spPr>
          </p:sp>
          <p:sp>
            <p:nvSpPr>
              <p:cNvPr name="TextBox 20" id="20"/>
              <p:cNvSpPr txBox="true"/>
              <p:nvPr/>
            </p:nvSpPr>
            <p:spPr>
              <a:xfrm>
                <a:off x="76200" y="28575"/>
                <a:ext cx="660400" cy="708025"/>
              </a:xfrm>
              <a:prstGeom prst="rect">
                <a:avLst/>
              </a:prstGeom>
            </p:spPr>
            <p:txBody>
              <a:bodyPr anchor="ctr" rtlCol="false" tIns="114559" lIns="114559" bIns="114559" rIns="114559"/>
              <a:lstStyle/>
              <a:p>
                <a:pPr algn="ctr">
                  <a:lnSpc>
                    <a:spcPts val="2660"/>
                  </a:lnSpc>
                </a:pPr>
              </a:p>
            </p:txBody>
          </p:sp>
        </p:grpSp>
        <p:grpSp>
          <p:nvGrpSpPr>
            <p:cNvPr name="Group 21" id="21"/>
            <p:cNvGrpSpPr/>
            <p:nvPr/>
          </p:nvGrpSpPr>
          <p:grpSpPr>
            <a:xfrm rot="0">
              <a:off x="0" y="1255321"/>
              <a:ext cx="272175" cy="272175"/>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91C59"/>
              </a:solidFill>
            </p:spPr>
          </p:sp>
          <p:sp>
            <p:nvSpPr>
              <p:cNvPr name="TextBox 23" id="23"/>
              <p:cNvSpPr txBox="true"/>
              <p:nvPr/>
            </p:nvSpPr>
            <p:spPr>
              <a:xfrm>
                <a:off x="76200" y="28575"/>
                <a:ext cx="660400" cy="708025"/>
              </a:xfrm>
              <a:prstGeom prst="rect">
                <a:avLst/>
              </a:prstGeom>
            </p:spPr>
            <p:txBody>
              <a:bodyPr anchor="ctr" rtlCol="false" tIns="114559" lIns="114559" bIns="114559" rIns="114559"/>
              <a:lstStyle/>
              <a:p>
                <a:pPr algn="ctr">
                  <a:lnSpc>
                    <a:spcPts val="2660"/>
                  </a:lnSpc>
                </a:pPr>
              </a:p>
            </p:txBody>
          </p:sp>
        </p:grpSp>
      </p:grpSp>
      <p:grpSp>
        <p:nvGrpSpPr>
          <p:cNvPr name="Group 24" id="24"/>
          <p:cNvGrpSpPr/>
          <p:nvPr/>
        </p:nvGrpSpPr>
        <p:grpSpPr>
          <a:xfrm rot="5400000">
            <a:off x="16765398" y="9206655"/>
            <a:ext cx="204131" cy="1145622"/>
            <a:chOff x="0" y="0"/>
            <a:chExt cx="272175" cy="1527496"/>
          </a:xfrm>
        </p:grpSpPr>
        <p:grpSp>
          <p:nvGrpSpPr>
            <p:cNvPr name="Group 25" id="25"/>
            <p:cNvGrpSpPr/>
            <p:nvPr/>
          </p:nvGrpSpPr>
          <p:grpSpPr>
            <a:xfrm rot="0">
              <a:off x="0" y="0"/>
              <a:ext cx="272175" cy="272175"/>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91C59"/>
              </a:solidFill>
            </p:spPr>
          </p:sp>
          <p:sp>
            <p:nvSpPr>
              <p:cNvPr name="TextBox 27" id="27"/>
              <p:cNvSpPr txBox="true"/>
              <p:nvPr/>
            </p:nvSpPr>
            <p:spPr>
              <a:xfrm>
                <a:off x="76200" y="28575"/>
                <a:ext cx="660400" cy="708025"/>
              </a:xfrm>
              <a:prstGeom prst="rect">
                <a:avLst/>
              </a:prstGeom>
            </p:spPr>
            <p:txBody>
              <a:bodyPr anchor="ctr" rtlCol="false" tIns="114559" lIns="114559" bIns="114559" rIns="114559"/>
              <a:lstStyle/>
              <a:p>
                <a:pPr algn="ctr">
                  <a:lnSpc>
                    <a:spcPts val="2660"/>
                  </a:lnSpc>
                </a:pPr>
              </a:p>
            </p:txBody>
          </p:sp>
        </p:grpSp>
        <p:grpSp>
          <p:nvGrpSpPr>
            <p:cNvPr name="Group 28" id="28"/>
            <p:cNvGrpSpPr/>
            <p:nvPr/>
          </p:nvGrpSpPr>
          <p:grpSpPr>
            <a:xfrm rot="0">
              <a:off x="0" y="627661"/>
              <a:ext cx="272175" cy="272175"/>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91C59"/>
              </a:solidFill>
            </p:spPr>
          </p:sp>
          <p:sp>
            <p:nvSpPr>
              <p:cNvPr name="TextBox 30" id="30"/>
              <p:cNvSpPr txBox="true"/>
              <p:nvPr/>
            </p:nvSpPr>
            <p:spPr>
              <a:xfrm>
                <a:off x="76200" y="28575"/>
                <a:ext cx="660400" cy="708025"/>
              </a:xfrm>
              <a:prstGeom prst="rect">
                <a:avLst/>
              </a:prstGeom>
            </p:spPr>
            <p:txBody>
              <a:bodyPr anchor="ctr" rtlCol="false" tIns="114559" lIns="114559" bIns="114559" rIns="114559"/>
              <a:lstStyle/>
              <a:p>
                <a:pPr algn="ctr">
                  <a:lnSpc>
                    <a:spcPts val="2660"/>
                  </a:lnSpc>
                </a:pPr>
              </a:p>
            </p:txBody>
          </p:sp>
        </p:grpSp>
        <p:grpSp>
          <p:nvGrpSpPr>
            <p:cNvPr name="Group 31" id="31"/>
            <p:cNvGrpSpPr/>
            <p:nvPr/>
          </p:nvGrpSpPr>
          <p:grpSpPr>
            <a:xfrm rot="0">
              <a:off x="0" y="1255321"/>
              <a:ext cx="272175" cy="272175"/>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91C59"/>
              </a:solidFill>
            </p:spPr>
          </p:sp>
          <p:sp>
            <p:nvSpPr>
              <p:cNvPr name="TextBox 33" id="33"/>
              <p:cNvSpPr txBox="true"/>
              <p:nvPr/>
            </p:nvSpPr>
            <p:spPr>
              <a:xfrm>
                <a:off x="76200" y="28575"/>
                <a:ext cx="660400" cy="708025"/>
              </a:xfrm>
              <a:prstGeom prst="rect">
                <a:avLst/>
              </a:prstGeom>
            </p:spPr>
            <p:txBody>
              <a:bodyPr anchor="ctr" rtlCol="false" tIns="114559" lIns="114559" bIns="114559" rIns="114559"/>
              <a:lstStyle/>
              <a:p>
                <a:pPr algn="ctr">
                  <a:lnSpc>
                    <a:spcPts val="2660"/>
                  </a:lnSpc>
                </a:pPr>
              </a:p>
            </p:txBody>
          </p:sp>
        </p:grpSp>
      </p:grpSp>
      <p:sp>
        <p:nvSpPr>
          <p:cNvPr name="TextBox 34" id="34"/>
          <p:cNvSpPr txBox="true"/>
          <p:nvPr/>
        </p:nvSpPr>
        <p:spPr>
          <a:xfrm rot="0">
            <a:off x="1341677" y="1313260"/>
            <a:ext cx="7968313" cy="2470785"/>
          </a:xfrm>
          <a:prstGeom prst="rect">
            <a:avLst/>
          </a:prstGeom>
        </p:spPr>
        <p:txBody>
          <a:bodyPr anchor="t" rtlCol="false" tIns="0" lIns="0" bIns="0" rIns="0">
            <a:spAutoFit/>
          </a:bodyPr>
          <a:lstStyle/>
          <a:p>
            <a:pPr algn="ctr" marL="863599" indent="-431800" lvl="1">
              <a:lnSpc>
                <a:spcPts val="4919"/>
              </a:lnSpc>
              <a:buAutoNum type="arabicPeriod" startAt="1"/>
            </a:pPr>
            <a:r>
              <a:rPr lang="en-US" b="true" sz="3999">
                <a:solidFill>
                  <a:srgbClr val="FFFFFF"/>
                </a:solidFill>
                <a:latin typeface="Montaser Arabic Bold"/>
                <a:ea typeface="Montaser Arabic Bold"/>
                <a:cs typeface="Montaser Arabic Bold"/>
                <a:sym typeface="Montaser Arabic Bold"/>
              </a:rPr>
              <a:t>¿CUÁNTAS Y CUÁLES SON LAS FASES QUE INVOLUCRA SU PROYECTO?</a:t>
            </a:r>
            <a:r>
              <a:rPr lang="en-US" b="true" sz="3999">
                <a:solidFill>
                  <a:srgbClr val="FFFFFF"/>
                </a:solidFill>
                <a:latin typeface="Montaser Arabic Bold"/>
                <a:ea typeface="Montaser Arabic Bold"/>
                <a:cs typeface="Montaser Arabic Bold"/>
                <a:sym typeface="Montaser Arabic Bold"/>
              </a:rPr>
              <a:t> </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EDEDED"/>
        </a:solidFill>
      </p:bgPr>
    </p:bg>
    <p:spTree>
      <p:nvGrpSpPr>
        <p:cNvPr id="1" name=""/>
        <p:cNvGrpSpPr/>
        <p:nvPr/>
      </p:nvGrpSpPr>
      <p:grpSpPr>
        <a:xfrm>
          <a:off x="0" y="0"/>
          <a:ext cx="0" cy="0"/>
          <a:chOff x="0" y="0"/>
          <a:chExt cx="0" cy="0"/>
        </a:xfrm>
      </p:grpSpPr>
      <p:grpSp>
        <p:nvGrpSpPr>
          <p:cNvPr name="Group 2" id="2"/>
          <p:cNvGrpSpPr/>
          <p:nvPr/>
        </p:nvGrpSpPr>
        <p:grpSpPr>
          <a:xfrm rot="0">
            <a:off x="1900624" y="4044178"/>
            <a:ext cx="25215233" cy="11669292"/>
            <a:chOff x="0" y="0"/>
            <a:chExt cx="6641049" cy="3073394"/>
          </a:xfrm>
        </p:grpSpPr>
        <p:sp>
          <p:nvSpPr>
            <p:cNvPr name="Freeform 3" id="3"/>
            <p:cNvSpPr/>
            <p:nvPr/>
          </p:nvSpPr>
          <p:spPr>
            <a:xfrm flipH="false" flipV="false" rot="0">
              <a:off x="0" y="0"/>
              <a:ext cx="6641049" cy="3073394"/>
            </a:xfrm>
            <a:custGeom>
              <a:avLst/>
              <a:gdLst/>
              <a:ahLst/>
              <a:cxnLst/>
              <a:rect r="r" b="b" t="t" l="l"/>
              <a:pathLst>
                <a:path h="3073394" w="6641049">
                  <a:moveTo>
                    <a:pt x="0" y="0"/>
                  </a:moveTo>
                  <a:lnTo>
                    <a:pt x="6641049" y="0"/>
                  </a:lnTo>
                  <a:lnTo>
                    <a:pt x="6641049" y="3073394"/>
                  </a:lnTo>
                  <a:lnTo>
                    <a:pt x="0" y="3073394"/>
                  </a:lnTo>
                  <a:close/>
                </a:path>
              </a:pathLst>
            </a:custGeom>
            <a:solidFill>
              <a:srgbClr val="2B326B"/>
            </a:solidFill>
          </p:spPr>
        </p:sp>
        <p:sp>
          <p:nvSpPr>
            <p:cNvPr name="TextBox 4" id="4"/>
            <p:cNvSpPr txBox="true"/>
            <p:nvPr/>
          </p:nvSpPr>
          <p:spPr>
            <a:xfrm>
              <a:off x="0" y="-47625"/>
              <a:ext cx="6641049" cy="312101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9454029" y="4044178"/>
            <a:ext cx="6933348" cy="11669292"/>
            <a:chOff x="0" y="0"/>
            <a:chExt cx="1826067" cy="3073394"/>
          </a:xfrm>
        </p:grpSpPr>
        <p:sp>
          <p:nvSpPr>
            <p:cNvPr name="Freeform 6" id="6"/>
            <p:cNvSpPr/>
            <p:nvPr/>
          </p:nvSpPr>
          <p:spPr>
            <a:xfrm flipH="false" flipV="false" rot="0">
              <a:off x="0" y="0"/>
              <a:ext cx="1826067" cy="3073394"/>
            </a:xfrm>
            <a:custGeom>
              <a:avLst/>
              <a:gdLst/>
              <a:ahLst/>
              <a:cxnLst/>
              <a:rect r="r" b="b" t="t" l="l"/>
              <a:pathLst>
                <a:path h="3073394" w="1826067">
                  <a:moveTo>
                    <a:pt x="0" y="0"/>
                  </a:moveTo>
                  <a:lnTo>
                    <a:pt x="1826067" y="0"/>
                  </a:lnTo>
                  <a:lnTo>
                    <a:pt x="1826067" y="3073394"/>
                  </a:lnTo>
                  <a:lnTo>
                    <a:pt x="0" y="3073394"/>
                  </a:lnTo>
                  <a:close/>
                </a:path>
              </a:pathLst>
            </a:custGeom>
            <a:solidFill>
              <a:srgbClr val="2B326B"/>
            </a:solidFill>
          </p:spPr>
        </p:sp>
        <p:sp>
          <p:nvSpPr>
            <p:cNvPr name="TextBox 7" id="7"/>
            <p:cNvSpPr txBox="true"/>
            <p:nvPr/>
          </p:nvSpPr>
          <p:spPr>
            <a:xfrm>
              <a:off x="0" y="-47625"/>
              <a:ext cx="1826067" cy="3121019"/>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774691" y="1163430"/>
            <a:ext cx="15358676" cy="2652148"/>
            <a:chOff x="0" y="0"/>
            <a:chExt cx="4045083" cy="698508"/>
          </a:xfrm>
        </p:grpSpPr>
        <p:sp>
          <p:nvSpPr>
            <p:cNvPr name="Freeform 9" id="9"/>
            <p:cNvSpPr/>
            <p:nvPr/>
          </p:nvSpPr>
          <p:spPr>
            <a:xfrm flipH="false" flipV="false" rot="0">
              <a:off x="0" y="0"/>
              <a:ext cx="4045083" cy="698508"/>
            </a:xfrm>
            <a:custGeom>
              <a:avLst/>
              <a:gdLst/>
              <a:ahLst/>
              <a:cxnLst/>
              <a:rect r="r" b="b" t="t" l="l"/>
              <a:pathLst>
                <a:path h="698508" w="4045083">
                  <a:moveTo>
                    <a:pt x="0" y="0"/>
                  </a:moveTo>
                  <a:lnTo>
                    <a:pt x="4045083" y="0"/>
                  </a:lnTo>
                  <a:lnTo>
                    <a:pt x="4045083" y="698508"/>
                  </a:lnTo>
                  <a:lnTo>
                    <a:pt x="0" y="698508"/>
                  </a:lnTo>
                  <a:close/>
                </a:path>
              </a:pathLst>
            </a:custGeom>
            <a:ln w="104775" cap="sq">
              <a:solidFill>
                <a:srgbClr val="2B326B"/>
              </a:solidFill>
              <a:prstDash val="solid"/>
              <a:miter/>
            </a:ln>
          </p:spPr>
        </p:sp>
        <p:sp>
          <p:nvSpPr>
            <p:cNvPr name="TextBox 10" id="10"/>
            <p:cNvSpPr txBox="true"/>
            <p:nvPr/>
          </p:nvSpPr>
          <p:spPr>
            <a:xfrm>
              <a:off x="0" y="-47625"/>
              <a:ext cx="4045083" cy="746133"/>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1900624" y="1317929"/>
            <a:ext cx="14486752" cy="2333625"/>
          </a:xfrm>
          <a:prstGeom prst="rect">
            <a:avLst/>
          </a:prstGeom>
        </p:spPr>
        <p:txBody>
          <a:bodyPr anchor="t" rtlCol="false" tIns="0" lIns="0" bIns="0" rIns="0">
            <a:spAutoFit/>
          </a:bodyPr>
          <a:lstStyle/>
          <a:p>
            <a:pPr algn="ctr" marL="1079501" indent="-539750" lvl="1">
              <a:lnSpc>
                <a:spcPts val="6150"/>
              </a:lnSpc>
              <a:buAutoNum type="arabicPeriod" startAt="1"/>
            </a:pPr>
            <a:r>
              <a:rPr lang="en-US" b="true" sz="5000">
                <a:solidFill>
                  <a:srgbClr val="191C59"/>
                </a:solidFill>
                <a:latin typeface="Montaser Arabic Bold"/>
                <a:ea typeface="Montaser Arabic Bold"/>
                <a:cs typeface="Montaser Arabic Bold"/>
                <a:sym typeface="Montaser Arabic Bold"/>
              </a:rPr>
              <a:t>¿CUÁNTAS Y CUÁLES SON LAS COMPETENCIAS PARA DESARROLLAR EN ESTE PROYECTO?</a:t>
            </a:r>
            <a:r>
              <a:rPr lang="en-US" b="true" sz="5000">
                <a:solidFill>
                  <a:srgbClr val="191C59"/>
                </a:solidFill>
                <a:latin typeface="Montaser Arabic Bold"/>
                <a:ea typeface="Montaser Arabic Bold"/>
                <a:cs typeface="Montaser Arabic Bold"/>
                <a:sym typeface="Montaser Arabic Bold"/>
              </a:rPr>
              <a:t> </a:t>
            </a:r>
          </a:p>
        </p:txBody>
      </p:sp>
      <p:sp>
        <p:nvSpPr>
          <p:cNvPr name="TextBox 12" id="12"/>
          <p:cNvSpPr txBox="true"/>
          <p:nvPr/>
        </p:nvSpPr>
        <p:spPr>
          <a:xfrm rot="0">
            <a:off x="1900624" y="4360244"/>
            <a:ext cx="16136806" cy="5546556"/>
          </a:xfrm>
          <a:prstGeom prst="rect">
            <a:avLst/>
          </a:prstGeom>
        </p:spPr>
        <p:txBody>
          <a:bodyPr anchor="t" rtlCol="false" tIns="0" lIns="0" bIns="0" rIns="0">
            <a:spAutoFit/>
          </a:bodyPr>
          <a:lstStyle/>
          <a:p>
            <a:pPr algn="just" marL="622148" indent="-311074" lvl="1">
              <a:lnSpc>
                <a:spcPts val="4034"/>
              </a:lnSpc>
              <a:buAutoNum type="arabicPeriod" startAt="1"/>
            </a:pPr>
            <a:r>
              <a:rPr lang="en-US" sz="2881">
                <a:solidFill>
                  <a:srgbClr val="FFFFFF"/>
                </a:solidFill>
                <a:latin typeface="Mardoto"/>
                <a:ea typeface="Mardoto"/>
                <a:cs typeface="Mardoto"/>
                <a:sym typeface="Mardoto"/>
              </a:rPr>
              <a:t>Análisis de requerimientos: Capacidad para identificar necesidades del usuario y traducirlas en soluciones tecnológicas.</a:t>
            </a:r>
          </a:p>
          <a:p>
            <a:pPr algn="just" marL="622148" indent="-311074" lvl="1">
              <a:lnSpc>
                <a:spcPts val="4034"/>
              </a:lnSpc>
              <a:buAutoNum type="arabicPeriod" startAt="1"/>
            </a:pPr>
            <a:r>
              <a:rPr lang="en-US" sz="2881">
                <a:solidFill>
                  <a:srgbClr val="FFFFFF"/>
                </a:solidFill>
                <a:latin typeface="Mardoto"/>
                <a:ea typeface="Mardoto"/>
                <a:cs typeface="Mardoto"/>
                <a:sym typeface="Mardoto"/>
              </a:rPr>
              <a:t>Diseño de software: Habilidad para estructurar bases de datos, diagramas y arquitectura del sistema.</a:t>
            </a:r>
          </a:p>
          <a:p>
            <a:pPr algn="just" marL="622148" indent="-311074" lvl="1">
              <a:lnSpc>
                <a:spcPts val="4034"/>
              </a:lnSpc>
              <a:buAutoNum type="arabicPeriod" startAt="1"/>
            </a:pPr>
            <a:r>
              <a:rPr lang="en-US" sz="2881">
                <a:solidFill>
                  <a:srgbClr val="FFFFFF"/>
                </a:solidFill>
                <a:latin typeface="Mardoto"/>
                <a:ea typeface="Mardoto"/>
                <a:cs typeface="Mardoto"/>
                <a:sym typeface="Mardoto"/>
              </a:rPr>
              <a:t>Desarrollo y programación: Competencia para codificar, implementar funcionalidades y aplicar buenas prácticas.</a:t>
            </a:r>
          </a:p>
          <a:p>
            <a:pPr algn="just" marL="622148" indent="-311074" lvl="1">
              <a:lnSpc>
                <a:spcPts val="4034"/>
              </a:lnSpc>
              <a:buAutoNum type="arabicPeriod" startAt="1"/>
            </a:pPr>
            <a:r>
              <a:rPr lang="en-US" sz="2881">
                <a:solidFill>
                  <a:srgbClr val="FFFFFF"/>
                </a:solidFill>
                <a:latin typeface="Mardoto"/>
                <a:ea typeface="Mardoto"/>
                <a:cs typeface="Mardoto"/>
                <a:sym typeface="Mardoto"/>
              </a:rPr>
              <a:t>Pruebas y aseguramiento de calidad: Capacidad para detectar errores y garantizar el correcto funcionamiento del sistema.</a:t>
            </a:r>
          </a:p>
          <a:p>
            <a:pPr algn="just" marL="622148" indent="-311074" lvl="1">
              <a:lnSpc>
                <a:spcPts val="4034"/>
              </a:lnSpc>
              <a:buAutoNum type="arabicPeriod" startAt="1"/>
            </a:pPr>
            <a:r>
              <a:rPr lang="en-US" sz="2881">
                <a:solidFill>
                  <a:srgbClr val="FFFFFF"/>
                </a:solidFill>
                <a:latin typeface="Mardoto"/>
                <a:ea typeface="Mardoto"/>
                <a:cs typeface="Mardoto"/>
                <a:sym typeface="Mardoto"/>
              </a:rPr>
              <a:t>Trabajo en equipo y gestión de proyectos: Habilidad para comunicarme, organizar tareas y cumplir tiempos establecidos.</a:t>
            </a:r>
          </a:p>
          <a:p>
            <a:pPr algn="just">
              <a:lnSpc>
                <a:spcPts val="4034"/>
              </a:lnSpc>
            </a:pP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2B326B"/>
        </a:solidFill>
      </p:bgPr>
    </p:bg>
    <p:spTree>
      <p:nvGrpSpPr>
        <p:cNvPr id="1" name=""/>
        <p:cNvGrpSpPr/>
        <p:nvPr/>
      </p:nvGrpSpPr>
      <p:grpSpPr>
        <a:xfrm>
          <a:off x="0" y="0"/>
          <a:ext cx="0" cy="0"/>
          <a:chOff x="0" y="0"/>
          <a:chExt cx="0" cy="0"/>
        </a:xfrm>
      </p:grpSpPr>
      <p:grpSp>
        <p:nvGrpSpPr>
          <p:cNvPr name="Group 2" id="2"/>
          <p:cNvGrpSpPr/>
          <p:nvPr/>
        </p:nvGrpSpPr>
        <p:grpSpPr>
          <a:xfrm rot="0">
            <a:off x="3780431" y="838778"/>
            <a:ext cx="11693607" cy="2448673"/>
            <a:chOff x="0" y="0"/>
            <a:chExt cx="3555329" cy="744496"/>
          </a:xfrm>
        </p:grpSpPr>
        <p:sp>
          <p:nvSpPr>
            <p:cNvPr name="Freeform 3" id="3"/>
            <p:cNvSpPr/>
            <p:nvPr/>
          </p:nvSpPr>
          <p:spPr>
            <a:xfrm flipH="false" flipV="false" rot="0">
              <a:off x="0" y="0"/>
              <a:ext cx="3555329" cy="744495"/>
            </a:xfrm>
            <a:custGeom>
              <a:avLst/>
              <a:gdLst/>
              <a:ahLst/>
              <a:cxnLst/>
              <a:rect r="r" b="b" t="t" l="l"/>
              <a:pathLst>
                <a:path h="744495" w="3555329">
                  <a:moveTo>
                    <a:pt x="0" y="0"/>
                  </a:moveTo>
                  <a:lnTo>
                    <a:pt x="3555329" y="0"/>
                  </a:lnTo>
                  <a:lnTo>
                    <a:pt x="3555329" y="744495"/>
                  </a:lnTo>
                  <a:lnTo>
                    <a:pt x="0" y="744495"/>
                  </a:lnTo>
                  <a:close/>
                </a:path>
              </a:pathLst>
            </a:custGeom>
            <a:ln w="104775" cap="sq">
              <a:solidFill>
                <a:srgbClr val="EDEDED"/>
              </a:solidFill>
              <a:prstDash val="solid"/>
              <a:miter/>
            </a:ln>
          </p:spPr>
        </p:sp>
        <p:sp>
          <p:nvSpPr>
            <p:cNvPr name="TextBox 4" id="4"/>
            <p:cNvSpPr txBox="true"/>
            <p:nvPr/>
          </p:nvSpPr>
          <p:spPr>
            <a:xfrm>
              <a:off x="0" y="-47625"/>
              <a:ext cx="3555329" cy="792121"/>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3780431" y="1019175"/>
            <a:ext cx="12105616" cy="2078355"/>
          </a:xfrm>
          <a:prstGeom prst="rect">
            <a:avLst/>
          </a:prstGeom>
        </p:spPr>
        <p:txBody>
          <a:bodyPr anchor="t" rtlCol="false" tIns="0" lIns="0" bIns="0" rIns="0">
            <a:spAutoFit/>
          </a:bodyPr>
          <a:lstStyle/>
          <a:p>
            <a:pPr algn="ctr" marL="971550" indent="-485775" lvl="1">
              <a:lnSpc>
                <a:spcPts val="5535"/>
              </a:lnSpc>
              <a:buAutoNum type="arabicPeriod" startAt="1"/>
            </a:pPr>
            <a:r>
              <a:rPr lang="en-US" sz="4500">
                <a:solidFill>
                  <a:srgbClr val="FFFFFF"/>
                </a:solidFill>
                <a:latin typeface="Montaser Arabic"/>
                <a:ea typeface="Montaser Arabic"/>
                <a:cs typeface="Montaser Arabic"/>
                <a:sym typeface="Montaser Arabic"/>
              </a:rPr>
              <a:t>¿CUÁNTOS RESULTADOS DE APRENDIZAJE CONTEMPLA SU PROYECTO DE FORMACIÓN?</a:t>
            </a:r>
            <a:r>
              <a:rPr lang="en-US" sz="4500">
                <a:solidFill>
                  <a:srgbClr val="FFFFFF"/>
                </a:solidFill>
                <a:latin typeface="Montaser Arabic"/>
                <a:ea typeface="Montaser Arabic"/>
                <a:cs typeface="Montaser Arabic"/>
                <a:sym typeface="Montaser Arabic"/>
              </a:rPr>
              <a:t> </a:t>
            </a:r>
          </a:p>
        </p:txBody>
      </p:sp>
      <p:grpSp>
        <p:nvGrpSpPr>
          <p:cNvPr name="Group 6" id="6"/>
          <p:cNvGrpSpPr/>
          <p:nvPr/>
        </p:nvGrpSpPr>
        <p:grpSpPr>
          <a:xfrm rot="0">
            <a:off x="-1760233" y="-877303"/>
            <a:ext cx="3086100" cy="12041606"/>
            <a:chOff x="0" y="0"/>
            <a:chExt cx="812800" cy="3171452"/>
          </a:xfrm>
        </p:grpSpPr>
        <p:sp>
          <p:nvSpPr>
            <p:cNvPr name="Freeform 7" id="7"/>
            <p:cNvSpPr/>
            <p:nvPr/>
          </p:nvSpPr>
          <p:spPr>
            <a:xfrm flipH="false" flipV="false" rot="0">
              <a:off x="0" y="0"/>
              <a:ext cx="812800" cy="3171452"/>
            </a:xfrm>
            <a:custGeom>
              <a:avLst/>
              <a:gdLst/>
              <a:ahLst/>
              <a:cxnLst/>
              <a:rect r="r" b="b" t="t" l="l"/>
              <a:pathLst>
                <a:path h="3171452" w="812800">
                  <a:moveTo>
                    <a:pt x="0" y="0"/>
                  </a:moveTo>
                  <a:lnTo>
                    <a:pt x="812800" y="0"/>
                  </a:lnTo>
                  <a:lnTo>
                    <a:pt x="812800" y="3171452"/>
                  </a:lnTo>
                  <a:lnTo>
                    <a:pt x="0" y="3171452"/>
                  </a:lnTo>
                  <a:close/>
                </a:path>
              </a:pathLst>
            </a:custGeom>
            <a:solidFill>
              <a:srgbClr val="EDEDED"/>
            </a:solidFill>
          </p:spPr>
        </p:sp>
        <p:sp>
          <p:nvSpPr>
            <p:cNvPr name="TextBox 8" id="8"/>
            <p:cNvSpPr txBox="true"/>
            <p:nvPr/>
          </p:nvSpPr>
          <p:spPr>
            <a:xfrm>
              <a:off x="0" y="-47625"/>
              <a:ext cx="812800" cy="3219077"/>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7259300" y="-381233"/>
            <a:ext cx="1306415" cy="1409933"/>
            <a:chOff x="0" y="0"/>
            <a:chExt cx="476073" cy="513796"/>
          </a:xfrm>
        </p:grpSpPr>
        <p:sp>
          <p:nvSpPr>
            <p:cNvPr name="Freeform 10" id="10"/>
            <p:cNvSpPr/>
            <p:nvPr/>
          </p:nvSpPr>
          <p:spPr>
            <a:xfrm flipH="false" flipV="false" rot="0">
              <a:off x="0" y="0"/>
              <a:ext cx="476073" cy="513796"/>
            </a:xfrm>
            <a:custGeom>
              <a:avLst/>
              <a:gdLst/>
              <a:ahLst/>
              <a:cxnLst/>
              <a:rect r="r" b="b" t="t" l="l"/>
              <a:pathLst>
                <a:path h="513796" w="476073">
                  <a:moveTo>
                    <a:pt x="0" y="0"/>
                  </a:moveTo>
                  <a:lnTo>
                    <a:pt x="476073" y="0"/>
                  </a:lnTo>
                  <a:lnTo>
                    <a:pt x="476073" y="513796"/>
                  </a:lnTo>
                  <a:lnTo>
                    <a:pt x="0" y="513796"/>
                  </a:lnTo>
                  <a:close/>
                </a:path>
              </a:pathLst>
            </a:custGeom>
            <a:solidFill>
              <a:srgbClr val="EDEDED"/>
            </a:solidFill>
          </p:spPr>
        </p:sp>
        <p:sp>
          <p:nvSpPr>
            <p:cNvPr name="TextBox 11" id="11"/>
            <p:cNvSpPr txBox="true"/>
            <p:nvPr/>
          </p:nvSpPr>
          <p:spPr>
            <a:xfrm>
              <a:off x="0" y="-47625"/>
              <a:ext cx="476073" cy="561421"/>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14851253" y="9409711"/>
            <a:ext cx="4046056" cy="2430717"/>
            <a:chOff x="0" y="0"/>
            <a:chExt cx="1065628" cy="640189"/>
          </a:xfrm>
        </p:grpSpPr>
        <p:sp>
          <p:nvSpPr>
            <p:cNvPr name="Freeform 13" id="13"/>
            <p:cNvSpPr/>
            <p:nvPr/>
          </p:nvSpPr>
          <p:spPr>
            <a:xfrm flipH="false" flipV="false" rot="0">
              <a:off x="0" y="0"/>
              <a:ext cx="1065628" cy="640189"/>
            </a:xfrm>
            <a:custGeom>
              <a:avLst/>
              <a:gdLst/>
              <a:ahLst/>
              <a:cxnLst/>
              <a:rect r="r" b="b" t="t" l="l"/>
              <a:pathLst>
                <a:path h="640189" w="1065628">
                  <a:moveTo>
                    <a:pt x="0" y="0"/>
                  </a:moveTo>
                  <a:lnTo>
                    <a:pt x="1065628" y="0"/>
                  </a:lnTo>
                  <a:lnTo>
                    <a:pt x="1065628" y="640189"/>
                  </a:lnTo>
                  <a:lnTo>
                    <a:pt x="0" y="640189"/>
                  </a:lnTo>
                  <a:close/>
                </a:path>
              </a:pathLst>
            </a:custGeom>
            <a:solidFill>
              <a:srgbClr val="EDEDED"/>
            </a:solidFill>
          </p:spPr>
        </p:sp>
        <p:sp>
          <p:nvSpPr>
            <p:cNvPr name="TextBox 14" id="14"/>
            <p:cNvSpPr txBox="true"/>
            <p:nvPr/>
          </p:nvSpPr>
          <p:spPr>
            <a:xfrm>
              <a:off x="0" y="-47625"/>
              <a:ext cx="1065628" cy="687814"/>
            </a:xfrm>
            <a:prstGeom prst="rect">
              <a:avLst/>
            </a:prstGeom>
          </p:spPr>
          <p:txBody>
            <a:bodyPr anchor="ctr" rtlCol="false" tIns="50800" lIns="50800" bIns="50800" rIns="50800"/>
            <a:lstStyle/>
            <a:p>
              <a:pPr algn="ctr">
                <a:lnSpc>
                  <a:spcPts val="2659"/>
                </a:lnSpc>
              </a:pPr>
            </a:p>
          </p:txBody>
        </p:sp>
      </p:grpSp>
      <p:sp>
        <p:nvSpPr>
          <p:cNvPr name="TextBox 15" id="15"/>
          <p:cNvSpPr txBox="true"/>
          <p:nvPr/>
        </p:nvSpPr>
        <p:spPr>
          <a:xfrm rot="0">
            <a:off x="3064127" y="3479800"/>
            <a:ext cx="13803337" cy="6807200"/>
          </a:xfrm>
          <a:prstGeom prst="rect">
            <a:avLst/>
          </a:prstGeom>
        </p:spPr>
        <p:txBody>
          <a:bodyPr anchor="t" rtlCol="false" tIns="0" lIns="0" bIns="0" rIns="0">
            <a:spAutoFit/>
          </a:bodyPr>
          <a:lstStyle/>
          <a:p>
            <a:pPr algn="just" marL="755651" indent="-377825" lvl="1">
              <a:lnSpc>
                <a:spcPts val="4900"/>
              </a:lnSpc>
              <a:buAutoNum type="arabicPeriod" startAt="1"/>
            </a:pPr>
            <a:r>
              <a:rPr lang="en-US" sz="3500">
                <a:solidFill>
                  <a:srgbClr val="FFFFFF"/>
                </a:solidFill>
                <a:latin typeface="Mardoto"/>
                <a:ea typeface="Mardoto"/>
                <a:cs typeface="Mardoto"/>
                <a:sym typeface="Mardoto"/>
              </a:rPr>
              <a:t>Analizar los requerimientos del sistema de información según las necesidades del cliente.</a:t>
            </a:r>
          </a:p>
          <a:p>
            <a:pPr algn="just" marL="755651" indent="-377825" lvl="1">
              <a:lnSpc>
                <a:spcPts val="4900"/>
              </a:lnSpc>
              <a:buAutoNum type="arabicPeriod" startAt="1"/>
            </a:pPr>
            <a:r>
              <a:rPr lang="en-US" sz="3500">
                <a:solidFill>
                  <a:srgbClr val="FFFFFF"/>
                </a:solidFill>
                <a:latin typeface="Mardoto"/>
                <a:ea typeface="Mardoto"/>
                <a:cs typeface="Mardoto"/>
                <a:sym typeface="Mardoto"/>
              </a:rPr>
              <a:t>Diseñar la solución de software aplicando metodologías y estándares establecidos.</a:t>
            </a:r>
          </a:p>
          <a:p>
            <a:pPr algn="just" marL="755651" indent="-377825" lvl="1">
              <a:lnSpc>
                <a:spcPts val="4900"/>
              </a:lnSpc>
              <a:buAutoNum type="arabicPeriod" startAt="1"/>
            </a:pPr>
            <a:r>
              <a:rPr lang="en-US" sz="3500">
                <a:solidFill>
                  <a:srgbClr val="FFFFFF"/>
                </a:solidFill>
                <a:latin typeface="Mardoto"/>
                <a:ea typeface="Mardoto"/>
                <a:cs typeface="Mardoto"/>
                <a:sym typeface="Mardoto"/>
              </a:rPr>
              <a:t>Desarrollar la aplicación utilizando lenguajes de programación y gestores de bases de datos.</a:t>
            </a:r>
          </a:p>
          <a:p>
            <a:pPr algn="just" marL="755651" indent="-377825" lvl="1">
              <a:lnSpc>
                <a:spcPts val="4900"/>
              </a:lnSpc>
              <a:buAutoNum type="arabicPeriod" startAt="1"/>
            </a:pPr>
            <a:r>
              <a:rPr lang="en-US" sz="3500">
                <a:solidFill>
                  <a:srgbClr val="FFFFFF"/>
                </a:solidFill>
                <a:latin typeface="Mardoto"/>
                <a:ea typeface="Mardoto"/>
                <a:cs typeface="Mardoto"/>
                <a:sym typeface="Mardoto"/>
              </a:rPr>
              <a:t>Realizar pruebas para garantizar la calidad y el correcto funcionamiento del software.</a:t>
            </a:r>
          </a:p>
          <a:p>
            <a:pPr algn="just" marL="755651" indent="-377825" lvl="1">
              <a:lnSpc>
                <a:spcPts val="4900"/>
              </a:lnSpc>
              <a:buAutoNum type="arabicPeriod" startAt="1"/>
            </a:pPr>
            <a:r>
              <a:rPr lang="en-US" sz="3500">
                <a:solidFill>
                  <a:srgbClr val="FFFFFF"/>
                </a:solidFill>
                <a:latin typeface="Mardoto"/>
                <a:ea typeface="Mardoto"/>
                <a:cs typeface="Mardoto"/>
                <a:sym typeface="Mardoto"/>
              </a:rPr>
              <a:t>Implementar y documentar la solución tecnológica conforme a los lineamientos técnicos del proyecto.</a:t>
            </a:r>
          </a:p>
          <a:p>
            <a:pPr algn="just">
              <a:lnSpc>
                <a:spcPts val="4900"/>
              </a:lnSpc>
            </a:pPr>
          </a:p>
        </p:txBody>
      </p:sp>
      <p:grpSp>
        <p:nvGrpSpPr>
          <p:cNvPr name="Group 16" id="16"/>
          <p:cNvGrpSpPr/>
          <p:nvPr/>
        </p:nvGrpSpPr>
        <p:grpSpPr>
          <a:xfrm rot="-10800000">
            <a:off x="571692" y="715484"/>
            <a:ext cx="204131" cy="1145622"/>
            <a:chOff x="0" y="0"/>
            <a:chExt cx="272175" cy="1527496"/>
          </a:xfrm>
        </p:grpSpPr>
        <p:grpSp>
          <p:nvGrpSpPr>
            <p:cNvPr name="Group 17" id="17"/>
            <p:cNvGrpSpPr/>
            <p:nvPr/>
          </p:nvGrpSpPr>
          <p:grpSpPr>
            <a:xfrm rot="0">
              <a:off x="0" y="0"/>
              <a:ext cx="272175" cy="272175"/>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91C59"/>
              </a:solidFill>
            </p:spPr>
          </p:sp>
          <p:sp>
            <p:nvSpPr>
              <p:cNvPr name="TextBox 19" id="19"/>
              <p:cNvSpPr txBox="true"/>
              <p:nvPr/>
            </p:nvSpPr>
            <p:spPr>
              <a:xfrm>
                <a:off x="76200" y="28575"/>
                <a:ext cx="660400" cy="708025"/>
              </a:xfrm>
              <a:prstGeom prst="rect">
                <a:avLst/>
              </a:prstGeom>
            </p:spPr>
            <p:txBody>
              <a:bodyPr anchor="ctr" rtlCol="false" tIns="114559" lIns="114559" bIns="114559" rIns="114559"/>
              <a:lstStyle/>
              <a:p>
                <a:pPr algn="ctr">
                  <a:lnSpc>
                    <a:spcPts val="2660"/>
                  </a:lnSpc>
                </a:pPr>
              </a:p>
            </p:txBody>
          </p:sp>
        </p:grpSp>
        <p:grpSp>
          <p:nvGrpSpPr>
            <p:cNvPr name="Group 20" id="20"/>
            <p:cNvGrpSpPr/>
            <p:nvPr/>
          </p:nvGrpSpPr>
          <p:grpSpPr>
            <a:xfrm rot="0">
              <a:off x="0" y="627661"/>
              <a:ext cx="272175" cy="272175"/>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91C59"/>
              </a:solidFill>
            </p:spPr>
          </p:sp>
          <p:sp>
            <p:nvSpPr>
              <p:cNvPr name="TextBox 22" id="22"/>
              <p:cNvSpPr txBox="true"/>
              <p:nvPr/>
            </p:nvSpPr>
            <p:spPr>
              <a:xfrm>
                <a:off x="76200" y="28575"/>
                <a:ext cx="660400" cy="708025"/>
              </a:xfrm>
              <a:prstGeom prst="rect">
                <a:avLst/>
              </a:prstGeom>
            </p:spPr>
            <p:txBody>
              <a:bodyPr anchor="ctr" rtlCol="false" tIns="114559" lIns="114559" bIns="114559" rIns="114559"/>
              <a:lstStyle/>
              <a:p>
                <a:pPr algn="ctr">
                  <a:lnSpc>
                    <a:spcPts val="2660"/>
                  </a:lnSpc>
                </a:pPr>
              </a:p>
            </p:txBody>
          </p:sp>
        </p:grpSp>
        <p:grpSp>
          <p:nvGrpSpPr>
            <p:cNvPr name="Group 23" id="23"/>
            <p:cNvGrpSpPr/>
            <p:nvPr/>
          </p:nvGrpSpPr>
          <p:grpSpPr>
            <a:xfrm rot="0">
              <a:off x="0" y="1255321"/>
              <a:ext cx="272175" cy="272175"/>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91C59"/>
              </a:solidFill>
            </p:spPr>
          </p:sp>
          <p:sp>
            <p:nvSpPr>
              <p:cNvPr name="TextBox 25" id="25"/>
              <p:cNvSpPr txBox="true"/>
              <p:nvPr/>
            </p:nvSpPr>
            <p:spPr>
              <a:xfrm>
                <a:off x="76200" y="28575"/>
                <a:ext cx="660400" cy="708025"/>
              </a:xfrm>
              <a:prstGeom prst="rect">
                <a:avLst/>
              </a:prstGeom>
            </p:spPr>
            <p:txBody>
              <a:bodyPr anchor="ctr" rtlCol="false" tIns="114559" lIns="114559" bIns="114559" rIns="114559"/>
              <a:lstStyle/>
              <a:p>
                <a:pPr algn="ctr">
                  <a:lnSpc>
                    <a:spcPts val="2660"/>
                  </a:lnSpc>
                </a:pPr>
              </a:p>
            </p:txBody>
          </p:sp>
        </p:grpSp>
      </p:grpSp>
      <p:grpSp>
        <p:nvGrpSpPr>
          <p:cNvPr name="Group 26" id="26"/>
          <p:cNvGrpSpPr/>
          <p:nvPr/>
        </p:nvGrpSpPr>
        <p:grpSpPr>
          <a:xfrm rot="5400000">
            <a:off x="16765398" y="9206655"/>
            <a:ext cx="204131" cy="1145622"/>
            <a:chOff x="0" y="0"/>
            <a:chExt cx="272175" cy="1527496"/>
          </a:xfrm>
        </p:grpSpPr>
        <p:grpSp>
          <p:nvGrpSpPr>
            <p:cNvPr name="Group 27" id="27"/>
            <p:cNvGrpSpPr/>
            <p:nvPr/>
          </p:nvGrpSpPr>
          <p:grpSpPr>
            <a:xfrm rot="0">
              <a:off x="0" y="0"/>
              <a:ext cx="272175" cy="272175"/>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91C59"/>
              </a:solidFill>
            </p:spPr>
          </p:sp>
          <p:sp>
            <p:nvSpPr>
              <p:cNvPr name="TextBox 29" id="29"/>
              <p:cNvSpPr txBox="true"/>
              <p:nvPr/>
            </p:nvSpPr>
            <p:spPr>
              <a:xfrm>
                <a:off x="76200" y="28575"/>
                <a:ext cx="660400" cy="708025"/>
              </a:xfrm>
              <a:prstGeom prst="rect">
                <a:avLst/>
              </a:prstGeom>
            </p:spPr>
            <p:txBody>
              <a:bodyPr anchor="ctr" rtlCol="false" tIns="114559" lIns="114559" bIns="114559" rIns="114559"/>
              <a:lstStyle/>
              <a:p>
                <a:pPr algn="ctr">
                  <a:lnSpc>
                    <a:spcPts val="2660"/>
                  </a:lnSpc>
                </a:pPr>
              </a:p>
            </p:txBody>
          </p:sp>
        </p:grpSp>
        <p:grpSp>
          <p:nvGrpSpPr>
            <p:cNvPr name="Group 30" id="30"/>
            <p:cNvGrpSpPr/>
            <p:nvPr/>
          </p:nvGrpSpPr>
          <p:grpSpPr>
            <a:xfrm rot="0">
              <a:off x="0" y="627661"/>
              <a:ext cx="272175" cy="272175"/>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91C59"/>
              </a:solidFill>
            </p:spPr>
          </p:sp>
          <p:sp>
            <p:nvSpPr>
              <p:cNvPr name="TextBox 32" id="32"/>
              <p:cNvSpPr txBox="true"/>
              <p:nvPr/>
            </p:nvSpPr>
            <p:spPr>
              <a:xfrm>
                <a:off x="76200" y="28575"/>
                <a:ext cx="660400" cy="708025"/>
              </a:xfrm>
              <a:prstGeom prst="rect">
                <a:avLst/>
              </a:prstGeom>
            </p:spPr>
            <p:txBody>
              <a:bodyPr anchor="ctr" rtlCol="false" tIns="114559" lIns="114559" bIns="114559" rIns="114559"/>
              <a:lstStyle/>
              <a:p>
                <a:pPr algn="ctr">
                  <a:lnSpc>
                    <a:spcPts val="2660"/>
                  </a:lnSpc>
                </a:pPr>
              </a:p>
            </p:txBody>
          </p:sp>
        </p:grpSp>
        <p:grpSp>
          <p:nvGrpSpPr>
            <p:cNvPr name="Group 33" id="33"/>
            <p:cNvGrpSpPr/>
            <p:nvPr/>
          </p:nvGrpSpPr>
          <p:grpSpPr>
            <a:xfrm rot="0">
              <a:off x="0" y="1255321"/>
              <a:ext cx="272175" cy="272175"/>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91C59"/>
              </a:solidFill>
            </p:spPr>
          </p:sp>
          <p:sp>
            <p:nvSpPr>
              <p:cNvPr name="TextBox 35" id="35"/>
              <p:cNvSpPr txBox="true"/>
              <p:nvPr/>
            </p:nvSpPr>
            <p:spPr>
              <a:xfrm>
                <a:off x="76200" y="28575"/>
                <a:ext cx="660400" cy="708025"/>
              </a:xfrm>
              <a:prstGeom prst="rect">
                <a:avLst/>
              </a:prstGeom>
            </p:spPr>
            <p:txBody>
              <a:bodyPr anchor="ctr" rtlCol="false" tIns="114559" lIns="114559" bIns="114559" rIns="114559"/>
              <a:lstStyle/>
              <a:p>
                <a:pPr algn="ctr">
                  <a:lnSpc>
                    <a:spcPts val="2660"/>
                  </a:lnSpc>
                </a:pPr>
              </a:p>
            </p:txBody>
          </p:sp>
        </p:grpSp>
      </p:grpSp>
    </p:spTree>
  </p:cSld>
  <p:clrMapOvr>
    <a:masterClrMapping/>
  </p:clrMapOvr>
</p:sld>
</file>

<file path=ppt/slides/slide7.xml><?xml version="1.0" encoding="utf-8"?>
<p:sld xmlns:p="http://schemas.openxmlformats.org/presentationml/2006/main" xmlns:a="http://schemas.openxmlformats.org/drawingml/2006/main">
  <p:cSld>
    <p:bg>
      <p:bgPr>
        <a:solidFill>
          <a:srgbClr val="EDEDED"/>
        </a:solidFill>
      </p:bgPr>
    </p:bg>
    <p:spTree>
      <p:nvGrpSpPr>
        <p:cNvPr id="1" name=""/>
        <p:cNvGrpSpPr/>
        <p:nvPr/>
      </p:nvGrpSpPr>
      <p:grpSpPr>
        <a:xfrm>
          <a:off x="0" y="0"/>
          <a:ext cx="0" cy="0"/>
          <a:chOff x="0" y="0"/>
          <a:chExt cx="0" cy="0"/>
        </a:xfrm>
      </p:grpSpPr>
      <p:grpSp>
        <p:nvGrpSpPr>
          <p:cNvPr name="Group 2" id="2"/>
          <p:cNvGrpSpPr/>
          <p:nvPr/>
        </p:nvGrpSpPr>
        <p:grpSpPr>
          <a:xfrm rot="0">
            <a:off x="1374655" y="4766120"/>
            <a:ext cx="4911898" cy="3757367"/>
            <a:chOff x="0" y="0"/>
            <a:chExt cx="1293669" cy="989595"/>
          </a:xfrm>
        </p:grpSpPr>
        <p:sp>
          <p:nvSpPr>
            <p:cNvPr name="Freeform 3" id="3"/>
            <p:cNvSpPr/>
            <p:nvPr/>
          </p:nvSpPr>
          <p:spPr>
            <a:xfrm flipH="false" flipV="false" rot="0">
              <a:off x="0" y="0"/>
              <a:ext cx="1293669" cy="989595"/>
            </a:xfrm>
            <a:custGeom>
              <a:avLst/>
              <a:gdLst/>
              <a:ahLst/>
              <a:cxnLst/>
              <a:rect r="r" b="b" t="t" l="l"/>
              <a:pathLst>
                <a:path h="989595" w="1293669">
                  <a:moveTo>
                    <a:pt x="0" y="0"/>
                  </a:moveTo>
                  <a:lnTo>
                    <a:pt x="1293669" y="0"/>
                  </a:lnTo>
                  <a:lnTo>
                    <a:pt x="1293669" y="989595"/>
                  </a:lnTo>
                  <a:lnTo>
                    <a:pt x="0" y="989595"/>
                  </a:lnTo>
                  <a:close/>
                </a:path>
              </a:pathLst>
            </a:custGeom>
            <a:solidFill>
              <a:srgbClr val="2B326B"/>
            </a:solidFill>
          </p:spPr>
        </p:sp>
        <p:sp>
          <p:nvSpPr>
            <p:cNvPr name="TextBox 4" id="4"/>
            <p:cNvSpPr txBox="true"/>
            <p:nvPr/>
          </p:nvSpPr>
          <p:spPr>
            <a:xfrm>
              <a:off x="0" y="-47625"/>
              <a:ext cx="1293669" cy="1037220"/>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898841" y="5212878"/>
            <a:ext cx="3863526" cy="2816225"/>
          </a:xfrm>
          <a:prstGeom prst="rect">
            <a:avLst/>
          </a:prstGeom>
        </p:spPr>
        <p:txBody>
          <a:bodyPr anchor="t" rtlCol="false" tIns="0" lIns="0" bIns="0" rIns="0">
            <a:spAutoFit/>
          </a:bodyPr>
          <a:lstStyle/>
          <a:p>
            <a:pPr algn="just">
              <a:lnSpc>
                <a:spcPts val="2799"/>
              </a:lnSpc>
              <a:spcBef>
                <a:spcPct val="0"/>
              </a:spcBef>
            </a:pPr>
            <a:r>
              <a:rPr lang="en-US" sz="1999">
                <a:solidFill>
                  <a:srgbClr val="FFFFFF"/>
                </a:solidFill>
                <a:latin typeface="Mardoto"/>
                <a:ea typeface="Mardoto"/>
                <a:cs typeface="Mardoto"/>
                <a:sym typeface="Mardoto"/>
              </a:rPr>
              <a:t>Lorem ipsum dolor sit amet, consectetur adipiscing elit, sed do eiusmod tempor incididunt ut labore et dolore magna aliqua. Ut enim ad minim veniam, quis nostrud exercitation ullamco laboris nisi ut aliquip ex ea commodo consequat.</a:t>
            </a:r>
          </a:p>
        </p:txBody>
      </p:sp>
      <p:grpSp>
        <p:nvGrpSpPr>
          <p:cNvPr name="Group 6" id="6"/>
          <p:cNvGrpSpPr/>
          <p:nvPr/>
        </p:nvGrpSpPr>
        <p:grpSpPr>
          <a:xfrm rot="-5400000">
            <a:off x="7241632" y="678285"/>
            <a:ext cx="3086100" cy="20246131"/>
            <a:chOff x="0" y="0"/>
            <a:chExt cx="812800" cy="5332314"/>
          </a:xfrm>
        </p:grpSpPr>
        <p:sp>
          <p:nvSpPr>
            <p:cNvPr name="Freeform 7" id="7"/>
            <p:cNvSpPr/>
            <p:nvPr/>
          </p:nvSpPr>
          <p:spPr>
            <a:xfrm flipH="false" flipV="false" rot="0">
              <a:off x="0" y="0"/>
              <a:ext cx="812800" cy="5332314"/>
            </a:xfrm>
            <a:custGeom>
              <a:avLst/>
              <a:gdLst/>
              <a:ahLst/>
              <a:cxnLst/>
              <a:rect r="r" b="b" t="t" l="l"/>
              <a:pathLst>
                <a:path h="5332314" w="812800">
                  <a:moveTo>
                    <a:pt x="0" y="0"/>
                  </a:moveTo>
                  <a:lnTo>
                    <a:pt x="812800" y="0"/>
                  </a:lnTo>
                  <a:lnTo>
                    <a:pt x="812800" y="5332314"/>
                  </a:lnTo>
                  <a:lnTo>
                    <a:pt x="0" y="5332314"/>
                  </a:lnTo>
                  <a:close/>
                </a:path>
              </a:pathLst>
            </a:custGeom>
            <a:solidFill>
              <a:srgbClr val="2B326B"/>
            </a:solidFill>
          </p:spPr>
        </p:sp>
        <p:sp>
          <p:nvSpPr>
            <p:cNvPr name="TextBox 8" id="8"/>
            <p:cNvSpPr txBox="true"/>
            <p:nvPr/>
          </p:nvSpPr>
          <p:spPr>
            <a:xfrm>
              <a:off x="0" y="-47625"/>
              <a:ext cx="812800" cy="5379939"/>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1204100" y="4115041"/>
            <a:ext cx="5082453" cy="511302"/>
          </a:xfrm>
          <a:prstGeom prst="rect">
            <a:avLst/>
          </a:prstGeom>
        </p:spPr>
        <p:txBody>
          <a:bodyPr anchor="t" rtlCol="false" tIns="0" lIns="0" bIns="0" rIns="0">
            <a:spAutoFit/>
          </a:bodyPr>
          <a:lstStyle/>
          <a:p>
            <a:pPr algn="l" marL="712470" indent="-356235" lvl="1">
              <a:lnSpc>
                <a:spcPts val="4058"/>
              </a:lnSpc>
              <a:buFont typeface="Arial"/>
              <a:buChar char="•"/>
            </a:pPr>
            <a:r>
              <a:rPr lang="en-US" b="true" sz="3300">
                <a:solidFill>
                  <a:srgbClr val="191C59"/>
                </a:solidFill>
                <a:latin typeface="Montaser Arabic Bold"/>
                <a:ea typeface="Montaser Arabic Bold"/>
                <a:cs typeface="Montaser Arabic Bold"/>
                <a:sym typeface="Montaser Arabic Bold"/>
              </a:rPr>
              <a:t>Primera Meta</a:t>
            </a:r>
          </a:p>
        </p:txBody>
      </p:sp>
      <p:grpSp>
        <p:nvGrpSpPr>
          <p:cNvPr name="Group 10" id="10"/>
          <p:cNvGrpSpPr/>
          <p:nvPr/>
        </p:nvGrpSpPr>
        <p:grpSpPr>
          <a:xfrm rot="0">
            <a:off x="1374655" y="4766120"/>
            <a:ext cx="15311834" cy="3757367"/>
            <a:chOff x="0" y="0"/>
            <a:chExt cx="4032746" cy="989595"/>
          </a:xfrm>
        </p:grpSpPr>
        <p:sp>
          <p:nvSpPr>
            <p:cNvPr name="Freeform 11" id="11"/>
            <p:cNvSpPr/>
            <p:nvPr/>
          </p:nvSpPr>
          <p:spPr>
            <a:xfrm flipH="false" flipV="false" rot="0">
              <a:off x="0" y="0"/>
              <a:ext cx="4032746" cy="989595"/>
            </a:xfrm>
            <a:custGeom>
              <a:avLst/>
              <a:gdLst/>
              <a:ahLst/>
              <a:cxnLst/>
              <a:rect r="r" b="b" t="t" l="l"/>
              <a:pathLst>
                <a:path h="989595" w="4032746">
                  <a:moveTo>
                    <a:pt x="0" y="0"/>
                  </a:moveTo>
                  <a:lnTo>
                    <a:pt x="4032746" y="0"/>
                  </a:lnTo>
                  <a:lnTo>
                    <a:pt x="4032746" y="989595"/>
                  </a:lnTo>
                  <a:lnTo>
                    <a:pt x="0" y="989595"/>
                  </a:lnTo>
                  <a:close/>
                </a:path>
              </a:pathLst>
            </a:custGeom>
            <a:solidFill>
              <a:srgbClr val="2B326B"/>
            </a:solidFill>
          </p:spPr>
        </p:sp>
        <p:sp>
          <p:nvSpPr>
            <p:cNvPr name="TextBox 12" id="12"/>
            <p:cNvSpPr txBox="true"/>
            <p:nvPr/>
          </p:nvSpPr>
          <p:spPr>
            <a:xfrm>
              <a:off x="0" y="-47625"/>
              <a:ext cx="4032746" cy="1037220"/>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12172002" y="4766120"/>
            <a:ext cx="4911898" cy="3757367"/>
            <a:chOff x="0" y="0"/>
            <a:chExt cx="1293669" cy="989595"/>
          </a:xfrm>
        </p:grpSpPr>
        <p:sp>
          <p:nvSpPr>
            <p:cNvPr name="Freeform 14" id="14"/>
            <p:cNvSpPr/>
            <p:nvPr/>
          </p:nvSpPr>
          <p:spPr>
            <a:xfrm flipH="false" flipV="false" rot="0">
              <a:off x="0" y="0"/>
              <a:ext cx="1293669" cy="989595"/>
            </a:xfrm>
            <a:custGeom>
              <a:avLst/>
              <a:gdLst/>
              <a:ahLst/>
              <a:cxnLst/>
              <a:rect r="r" b="b" t="t" l="l"/>
              <a:pathLst>
                <a:path h="989595" w="1293669">
                  <a:moveTo>
                    <a:pt x="0" y="0"/>
                  </a:moveTo>
                  <a:lnTo>
                    <a:pt x="1293669" y="0"/>
                  </a:lnTo>
                  <a:lnTo>
                    <a:pt x="1293669" y="989595"/>
                  </a:lnTo>
                  <a:lnTo>
                    <a:pt x="0" y="989595"/>
                  </a:lnTo>
                  <a:close/>
                </a:path>
              </a:pathLst>
            </a:custGeom>
            <a:solidFill>
              <a:srgbClr val="2B326B"/>
            </a:solidFill>
          </p:spPr>
        </p:sp>
        <p:sp>
          <p:nvSpPr>
            <p:cNvPr name="TextBox 15" id="15"/>
            <p:cNvSpPr txBox="true"/>
            <p:nvPr/>
          </p:nvSpPr>
          <p:spPr>
            <a:xfrm>
              <a:off x="0" y="-47625"/>
              <a:ext cx="1293669" cy="1037220"/>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1374655" y="1568700"/>
            <a:ext cx="15709245" cy="2012941"/>
            <a:chOff x="0" y="0"/>
            <a:chExt cx="4137414" cy="530157"/>
          </a:xfrm>
        </p:grpSpPr>
        <p:sp>
          <p:nvSpPr>
            <p:cNvPr name="Freeform 17" id="17"/>
            <p:cNvSpPr/>
            <p:nvPr/>
          </p:nvSpPr>
          <p:spPr>
            <a:xfrm flipH="false" flipV="false" rot="0">
              <a:off x="0" y="0"/>
              <a:ext cx="4137415" cy="530157"/>
            </a:xfrm>
            <a:custGeom>
              <a:avLst/>
              <a:gdLst/>
              <a:ahLst/>
              <a:cxnLst/>
              <a:rect r="r" b="b" t="t" l="l"/>
              <a:pathLst>
                <a:path h="530157" w="4137415">
                  <a:moveTo>
                    <a:pt x="0" y="0"/>
                  </a:moveTo>
                  <a:lnTo>
                    <a:pt x="4137415" y="0"/>
                  </a:lnTo>
                  <a:lnTo>
                    <a:pt x="4137415" y="530157"/>
                  </a:lnTo>
                  <a:lnTo>
                    <a:pt x="0" y="530157"/>
                  </a:lnTo>
                  <a:close/>
                </a:path>
              </a:pathLst>
            </a:custGeom>
            <a:ln w="104775" cap="sq">
              <a:solidFill>
                <a:srgbClr val="2B326B"/>
              </a:solidFill>
              <a:prstDash val="solid"/>
              <a:miter/>
            </a:ln>
          </p:spPr>
        </p:sp>
        <p:sp>
          <p:nvSpPr>
            <p:cNvPr name="TextBox 18" id="18"/>
            <p:cNvSpPr txBox="true"/>
            <p:nvPr/>
          </p:nvSpPr>
          <p:spPr>
            <a:xfrm>
              <a:off x="0" y="-47625"/>
              <a:ext cx="4137414" cy="577782"/>
            </a:xfrm>
            <a:prstGeom prst="rect">
              <a:avLst/>
            </a:prstGeom>
          </p:spPr>
          <p:txBody>
            <a:bodyPr anchor="ctr" rtlCol="false" tIns="50800" lIns="50800" bIns="50800" rIns="50800"/>
            <a:lstStyle/>
            <a:p>
              <a:pPr algn="ctr">
                <a:lnSpc>
                  <a:spcPts val="2659"/>
                </a:lnSpc>
              </a:pPr>
            </a:p>
          </p:txBody>
        </p:sp>
      </p:grpSp>
      <p:sp>
        <p:nvSpPr>
          <p:cNvPr name="TextBox 19" id="19"/>
          <p:cNvSpPr txBox="true"/>
          <p:nvPr/>
        </p:nvSpPr>
        <p:spPr>
          <a:xfrm rot="0">
            <a:off x="1374655" y="1901317"/>
            <a:ext cx="15021544" cy="1383030"/>
          </a:xfrm>
          <a:prstGeom prst="rect">
            <a:avLst/>
          </a:prstGeom>
        </p:spPr>
        <p:txBody>
          <a:bodyPr anchor="t" rtlCol="false" tIns="0" lIns="0" bIns="0" rIns="0">
            <a:spAutoFit/>
          </a:bodyPr>
          <a:lstStyle/>
          <a:p>
            <a:pPr algn="ctr" marL="971550" indent="-485775" lvl="1">
              <a:lnSpc>
                <a:spcPts val="5535"/>
              </a:lnSpc>
              <a:buAutoNum type="arabicPeriod" startAt="1"/>
            </a:pPr>
            <a:r>
              <a:rPr lang="en-US" b="true" sz="4500">
                <a:solidFill>
                  <a:srgbClr val="191C59"/>
                </a:solidFill>
                <a:latin typeface="Montaser Arabic Bold"/>
                <a:ea typeface="Montaser Arabic Bold"/>
                <a:cs typeface="Montaser Arabic Bold"/>
                <a:sym typeface="Montaser Arabic Bold"/>
              </a:rPr>
              <a:t>¿EN QUÉ FASE DEL PROYECTO Y EN QUÉ</a:t>
            </a:r>
          </a:p>
          <a:p>
            <a:pPr algn="ctr">
              <a:lnSpc>
                <a:spcPts val="5535"/>
              </a:lnSpc>
            </a:pPr>
            <a:r>
              <a:rPr lang="en-US" sz="4500" b="true">
                <a:solidFill>
                  <a:srgbClr val="191C59"/>
                </a:solidFill>
                <a:latin typeface="Montaser Arabic Bold"/>
                <a:ea typeface="Montaser Arabic Bold"/>
                <a:cs typeface="Montaser Arabic Bold"/>
                <a:sym typeface="Montaser Arabic Bold"/>
              </a:rPr>
              <a:t>ACTIVIDAD DE APRENDIZAJE ME ENCUENTRO?</a:t>
            </a:r>
          </a:p>
        </p:txBody>
      </p:sp>
      <p:grpSp>
        <p:nvGrpSpPr>
          <p:cNvPr name="Group 20" id="20"/>
          <p:cNvGrpSpPr/>
          <p:nvPr/>
        </p:nvGrpSpPr>
        <p:grpSpPr>
          <a:xfrm rot="0">
            <a:off x="16396199" y="1196135"/>
            <a:ext cx="1001769" cy="1081147"/>
            <a:chOff x="0" y="0"/>
            <a:chExt cx="476073" cy="513796"/>
          </a:xfrm>
        </p:grpSpPr>
        <p:sp>
          <p:nvSpPr>
            <p:cNvPr name="Freeform 21" id="21"/>
            <p:cNvSpPr/>
            <p:nvPr/>
          </p:nvSpPr>
          <p:spPr>
            <a:xfrm flipH="false" flipV="false" rot="0">
              <a:off x="0" y="0"/>
              <a:ext cx="476073" cy="513796"/>
            </a:xfrm>
            <a:custGeom>
              <a:avLst/>
              <a:gdLst/>
              <a:ahLst/>
              <a:cxnLst/>
              <a:rect r="r" b="b" t="t" l="l"/>
              <a:pathLst>
                <a:path h="513796" w="476073">
                  <a:moveTo>
                    <a:pt x="0" y="0"/>
                  </a:moveTo>
                  <a:lnTo>
                    <a:pt x="476073" y="0"/>
                  </a:lnTo>
                  <a:lnTo>
                    <a:pt x="476073" y="513796"/>
                  </a:lnTo>
                  <a:lnTo>
                    <a:pt x="0" y="513796"/>
                  </a:lnTo>
                  <a:close/>
                </a:path>
              </a:pathLst>
            </a:custGeom>
            <a:solidFill>
              <a:srgbClr val="2B326B"/>
            </a:solidFill>
          </p:spPr>
        </p:sp>
        <p:sp>
          <p:nvSpPr>
            <p:cNvPr name="TextBox 22" id="22"/>
            <p:cNvSpPr txBox="true"/>
            <p:nvPr/>
          </p:nvSpPr>
          <p:spPr>
            <a:xfrm>
              <a:off x="0" y="-47625"/>
              <a:ext cx="476073" cy="561421"/>
            </a:xfrm>
            <a:prstGeom prst="rect">
              <a:avLst/>
            </a:prstGeom>
          </p:spPr>
          <p:txBody>
            <a:bodyPr anchor="ctr" rtlCol="false" tIns="50800" lIns="50800" bIns="50800" rIns="50800"/>
            <a:lstStyle/>
            <a:p>
              <a:pPr algn="ctr">
                <a:lnSpc>
                  <a:spcPts val="2659"/>
                </a:lnSpc>
              </a:pPr>
            </a:p>
          </p:txBody>
        </p:sp>
      </p:grpSp>
      <p:grpSp>
        <p:nvGrpSpPr>
          <p:cNvPr name="Group 23" id="23"/>
          <p:cNvGrpSpPr/>
          <p:nvPr/>
        </p:nvGrpSpPr>
        <p:grpSpPr>
          <a:xfrm rot="5400000">
            <a:off x="17157234" y="9233841"/>
            <a:ext cx="204131" cy="1145622"/>
            <a:chOff x="0" y="0"/>
            <a:chExt cx="272175" cy="1527496"/>
          </a:xfrm>
        </p:grpSpPr>
        <p:grpSp>
          <p:nvGrpSpPr>
            <p:cNvPr name="Group 24" id="24"/>
            <p:cNvGrpSpPr/>
            <p:nvPr/>
          </p:nvGrpSpPr>
          <p:grpSpPr>
            <a:xfrm rot="0">
              <a:off x="0" y="0"/>
              <a:ext cx="272175" cy="272175"/>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DEDED"/>
              </a:solidFill>
            </p:spPr>
          </p:sp>
          <p:sp>
            <p:nvSpPr>
              <p:cNvPr name="TextBox 26" id="26"/>
              <p:cNvSpPr txBox="true"/>
              <p:nvPr/>
            </p:nvSpPr>
            <p:spPr>
              <a:xfrm>
                <a:off x="76200" y="28575"/>
                <a:ext cx="660400" cy="708025"/>
              </a:xfrm>
              <a:prstGeom prst="rect">
                <a:avLst/>
              </a:prstGeom>
            </p:spPr>
            <p:txBody>
              <a:bodyPr anchor="ctr" rtlCol="false" tIns="114559" lIns="114559" bIns="114559" rIns="114559"/>
              <a:lstStyle/>
              <a:p>
                <a:pPr algn="ctr">
                  <a:lnSpc>
                    <a:spcPts val="2660"/>
                  </a:lnSpc>
                </a:pPr>
              </a:p>
            </p:txBody>
          </p:sp>
        </p:grpSp>
        <p:grpSp>
          <p:nvGrpSpPr>
            <p:cNvPr name="Group 27" id="27"/>
            <p:cNvGrpSpPr/>
            <p:nvPr/>
          </p:nvGrpSpPr>
          <p:grpSpPr>
            <a:xfrm rot="0">
              <a:off x="0" y="627661"/>
              <a:ext cx="272175" cy="272175"/>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DEDED"/>
              </a:solidFill>
            </p:spPr>
          </p:sp>
          <p:sp>
            <p:nvSpPr>
              <p:cNvPr name="TextBox 29" id="29"/>
              <p:cNvSpPr txBox="true"/>
              <p:nvPr/>
            </p:nvSpPr>
            <p:spPr>
              <a:xfrm>
                <a:off x="76200" y="28575"/>
                <a:ext cx="660400" cy="708025"/>
              </a:xfrm>
              <a:prstGeom prst="rect">
                <a:avLst/>
              </a:prstGeom>
            </p:spPr>
            <p:txBody>
              <a:bodyPr anchor="ctr" rtlCol="false" tIns="114559" lIns="114559" bIns="114559" rIns="114559"/>
              <a:lstStyle/>
              <a:p>
                <a:pPr algn="ctr">
                  <a:lnSpc>
                    <a:spcPts val="2660"/>
                  </a:lnSpc>
                </a:pPr>
              </a:p>
            </p:txBody>
          </p:sp>
        </p:grpSp>
        <p:grpSp>
          <p:nvGrpSpPr>
            <p:cNvPr name="Group 30" id="30"/>
            <p:cNvGrpSpPr/>
            <p:nvPr/>
          </p:nvGrpSpPr>
          <p:grpSpPr>
            <a:xfrm rot="0">
              <a:off x="0" y="1255321"/>
              <a:ext cx="272175" cy="272175"/>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DEDED"/>
              </a:solidFill>
            </p:spPr>
          </p:sp>
          <p:sp>
            <p:nvSpPr>
              <p:cNvPr name="TextBox 32" id="32"/>
              <p:cNvSpPr txBox="true"/>
              <p:nvPr/>
            </p:nvSpPr>
            <p:spPr>
              <a:xfrm>
                <a:off x="76200" y="28575"/>
                <a:ext cx="660400" cy="708025"/>
              </a:xfrm>
              <a:prstGeom prst="rect">
                <a:avLst/>
              </a:prstGeom>
            </p:spPr>
            <p:txBody>
              <a:bodyPr anchor="ctr" rtlCol="false" tIns="114559" lIns="114559" bIns="114559" rIns="114559"/>
              <a:lstStyle/>
              <a:p>
                <a:pPr algn="ctr">
                  <a:lnSpc>
                    <a:spcPts val="2660"/>
                  </a:lnSpc>
                </a:pPr>
              </a:p>
            </p:txBody>
          </p:sp>
        </p:grpSp>
      </p:grpSp>
      <p:sp>
        <p:nvSpPr>
          <p:cNvPr name="TextBox 33" id="33"/>
          <p:cNvSpPr txBox="true"/>
          <p:nvPr/>
        </p:nvSpPr>
        <p:spPr>
          <a:xfrm rot="0">
            <a:off x="1374655" y="5174778"/>
            <a:ext cx="15311834" cy="3092450"/>
          </a:xfrm>
          <a:prstGeom prst="rect">
            <a:avLst/>
          </a:prstGeom>
        </p:spPr>
        <p:txBody>
          <a:bodyPr anchor="t" rtlCol="false" tIns="0" lIns="0" bIns="0" rIns="0">
            <a:spAutoFit/>
          </a:bodyPr>
          <a:lstStyle/>
          <a:p>
            <a:pPr algn="l">
              <a:lnSpc>
                <a:spcPts val="4900"/>
              </a:lnSpc>
            </a:pPr>
            <a:r>
              <a:rPr lang="en-US" sz="3500">
                <a:solidFill>
                  <a:srgbClr val="FFFFFF"/>
                </a:solidFill>
                <a:latin typeface="Mardoto"/>
                <a:ea typeface="Mardoto"/>
                <a:cs typeface="Mardoto"/>
                <a:sym typeface="Mardoto"/>
              </a:rPr>
              <a:t>Actualmente nos encontramos en la fase de induccion,</a:t>
            </a:r>
          </a:p>
          <a:p>
            <a:pPr algn="l">
              <a:lnSpc>
                <a:spcPts val="4900"/>
              </a:lnSpc>
              <a:spcBef>
                <a:spcPct val="0"/>
              </a:spcBef>
            </a:pPr>
            <a:r>
              <a:rPr lang="en-US" sz="3500">
                <a:solidFill>
                  <a:srgbClr val="FFFFFF"/>
                </a:solidFill>
                <a:latin typeface="Mardoto"/>
                <a:ea typeface="Mardoto"/>
                <a:cs typeface="Mardoto"/>
                <a:sym typeface="Mardoto"/>
              </a:rPr>
              <a:t>específicamente en la actividad se realiza el proceso de adaptación e integración al programa de formación. En esta etapa no se entra aún de lleno a la parte técnica, sino que se trabaja en aspectos fundamentales para tu proceso como aprendiz.</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2B326B"/>
        </a:solidFill>
      </p:bgPr>
    </p:bg>
    <p:spTree>
      <p:nvGrpSpPr>
        <p:cNvPr id="1" name=""/>
        <p:cNvGrpSpPr/>
        <p:nvPr/>
      </p:nvGrpSpPr>
      <p:grpSpPr>
        <a:xfrm>
          <a:off x="0" y="0"/>
          <a:ext cx="0" cy="0"/>
          <a:chOff x="0" y="0"/>
          <a:chExt cx="0" cy="0"/>
        </a:xfrm>
      </p:grpSpPr>
      <p:grpSp>
        <p:nvGrpSpPr>
          <p:cNvPr name="Group 2" id="2"/>
          <p:cNvGrpSpPr/>
          <p:nvPr/>
        </p:nvGrpSpPr>
        <p:grpSpPr>
          <a:xfrm rot="0">
            <a:off x="1277290" y="1176454"/>
            <a:ext cx="15461472" cy="2585775"/>
            <a:chOff x="0" y="0"/>
            <a:chExt cx="5101962" cy="853252"/>
          </a:xfrm>
        </p:grpSpPr>
        <p:sp>
          <p:nvSpPr>
            <p:cNvPr name="Freeform 3" id="3"/>
            <p:cNvSpPr/>
            <p:nvPr/>
          </p:nvSpPr>
          <p:spPr>
            <a:xfrm flipH="false" flipV="false" rot="0">
              <a:off x="0" y="0"/>
              <a:ext cx="5101962" cy="853252"/>
            </a:xfrm>
            <a:custGeom>
              <a:avLst/>
              <a:gdLst/>
              <a:ahLst/>
              <a:cxnLst/>
              <a:rect r="r" b="b" t="t" l="l"/>
              <a:pathLst>
                <a:path h="853252" w="5101962">
                  <a:moveTo>
                    <a:pt x="0" y="0"/>
                  </a:moveTo>
                  <a:lnTo>
                    <a:pt x="5101962" y="0"/>
                  </a:lnTo>
                  <a:lnTo>
                    <a:pt x="5101962" y="853252"/>
                  </a:lnTo>
                  <a:lnTo>
                    <a:pt x="0" y="853252"/>
                  </a:lnTo>
                  <a:close/>
                </a:path>
              </a:pathLst>
            </a:custGeom>
            <a:ln w="104775" cap="sq">
              <a:solidFill>
                <a:srgbClr val="EDEDED"/>
              </a:solidFill>
              <a:prstDash val="solid"/>
              <a:miter/>
            </a:ln>
          </p:spPr>
        </p:sp>
        <p:sp>
          <p:nvSpPr>
            <p:cNvPr name="TextBox 4" id="4"/>
            <p:cNvSpPr txBox="true"/>
            <p:nvPr/>
          </p:nvSpPr>
          <p:spPr>
            <a:xfrm>
              <a:off x="0" y="-47625"/>
              <a:ext cx="5101962" cy="900877"/>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277290" y="1350499"/>
            <a:ext cx="15461472" cy="1948377"/>
          </a:xfrm>
          <a:prstGeom prst="rect">
            <a:avLst/>
          </a:prstGeom>
        </p:spPr>
        <p:txBody>
          <a:bodyPr anchor="t" rtlCol="false" tIns="0" lIns="0" bIns="0" rIns="0">
            <a:spAutoFit/>
          </a:bodyPr>
          <a:lstStyle/>
          <a:p>
            <a:pPr algn="ctr" marL="910511" indent="-455255" lvl="1">
              <a:lnSpc>
                <a:spcPts val="5187"/>
              </a:lnSpc>
              <a:buAutoNum type="arabicPeriod" startAt="1"/>
            </a:pPr>
            <a:r>
              <a:rPr lang="en-US" b="true" sz="4217">
                <a:solidFill>
                  <a:srgbClr val="FFFFFF"/>
                </a:solidFill>
                <a:latin typeface="Montaser Arabic Bold"/>
                <a:ea typeface="Montaser Arabic Bold"/>
                <a:cs typeface="Montaser Arabic Bold"/>
                <a:sym typeface="Montaser Arabic Bold"/>
              </a:rPr>
              <a:t>¿CUAL ACTIVIDAD DE APRENDIZAJE ES LA SIGUIENTE EN MI PROYECTO, ¿CUÁNTOS Y CUÁLES SON LOS RESULTADOS DE APRENDIZAJE?</a:t>
            </a:r>
            <a:r>
              <a:rPr lang="en-US" b="true" sz="4217">
                <a:solidFill>
                  <a:srgbClr val="FFFFFF"/>
                </a:solidFill>
                <a:latin typeface="Montaser Arabic Bold"/>
                <a:ea typeface="Montaser Arabic Bold"/>
                <a:cs typeface="Montaser Arabic Bold"/>
                <a:sym typeface="Montaser Arabic Bold"/>
              </a:rPr>
              <a:t> </a:t>
            </a:r>
          </a:p>
        </p:txBody>
      </p:sp>
      <p:grpSp>
        <p:nvGrpSpPr>
          <p:cNvPr name="Group 6" id="6"/>
          <p:cNvGrpSpPr/>
          <p:nvPr/>
        </p:nvGrpSpPr>
        <p:grpSpPr>
          <a:xfrm rot="5400000">
            <a:off x="1993077" y="-6535153"/>
            <a:ext cx="3086100" cy="12041606"/>
            <a:chOff x="0" y="0"/>
            <a:chExt cx="812800" cy="3171452"/>
          </a:xfrm>
        </p:grpSpPr>
        <p:sp>
          <p:nvSpPr>
            <p:cNvPr name="Freeform 7" id="7"/>
            <p:cNvSpPr/>
            <p:nvPr/>
          </p:nvSpPr>
          <p:spPr>
            <a:xfrm flipH="false" flipV="false" rot="0">
              <a:off x="0" y="0"/>
              <a:ext cx="812800" cy="3171452"/>
            </a:xfrm>
            <a:custGeom>
              <a:avLst/>
              <a:gdLst/>
              <a:ahLst/>
              <a:cxnLst/>
              <a:rect r="r" b="b" t="t" l="l"/>
              <a:pathLst>
                <a:path h="3171452" w="812800">
                  <a:moveTo>
                    <a:pt x="0" y="0"/>
                  </a:moveTo>
                  <a:lnTo>
                    <a:pt x="812800" y="0"/>
                  </a:lnTo>
                  <a:lnTo>
                    <a:pt x="812800" y="3171452"/>
                  </a:lnTo>
                  <a:lnTo>
                    <a:pt x="0" y="3171452"/>
                  </a:lnTo>
                  <a:close/>
                </a:path>
              </a:pathLst>
            </a:custGeom>
            <a:solidFill>
              <a:srgbClr val="EDEDED"/>
            </a:solidFill>
          </p:spPr>
        </p:sp>
        <p:sp>
          <p:nvSpPr>
            <p:cNvPr name="TextBox 8" id="8"/>
            <p:cNvSpPr txBox="true"/>
            <p:nvPr/>
          </p:nvSpPr>
          <p:spPr>
            <a:xfrm>
              <a:off x="0" y="-47625"/>
              <a:ext cx="812800" cy="3219077"/>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277715" y="9258300"/>
            <a:ext cx="1306415" cy="1409933"/>
            <a:chOff x="0" y="0"/>
            <a:chExt cx="476073" cy="513796"/>
          </a:xfrm>
        </p:grpSpPr>
        <p:sp>
          <p:nvSpPr>
            <p:cNvPr name="Freeform 10" id="10"/>
            <p:cNvSpPr/>
            <p:nvPr/>
          </p:nvSpPr>
          <p:spPr>
            <a:xfrm flipH="false" flipV="false" rot="0">
              <a:off x="0" y="0"/>
              <a:ext cx="476073" cy="513796"/>
            </a:xfrm>
            <a:custGeom>
              <a:avLst/>
              <a:gdLst/>
              <a:ahLst/>
              <a:cxnLst/>
              <a:rect r="r" b="b" t="t" l="l"/>
              <a:pathLst>
                <a:path h="513796" w="476073">
                  <a:moveTo>
                    <a:pt x="0" y="0"/>
                  </a:moveTo>
                  <a:lnTo>
                    <a:pt x="476073" y="0"/>
                  </a:lnTo>
                  <a:lnTo>
                    <a:pt x="476073" y="513796"/>
                  </a:lnTo>
                  <a:lnTo>
                    <a:pt x="0" y="513796"/>
                  </a:lnTo>
                  <a:close/>
                </a:path>
              </a:pathLst>
            </a:custGeom>
            <a:solidFill>
              <a:srgbClr val="EDEDED"/>
            </a:solidFill>
          </p:spPr>
        </p:sp>
        <p:sp>
          <p:nvSpPr>
            <p:cNvPr name="TextBox 11" id="11"/>
            <p:cNvSpPr txBox="true"/>
            <p:nvPr/>
          </p:nvSpPr>
          <p:spPr>
            <a:xfrm>
              <a:off x="0" y="-47625"/>
              <a:ext cx="476073" cy="561421"/>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14889506" y="9258300"/>
            <a:ext cx="4046056" cy="2430717"/>
            <a:chOff x="0" y="0"/>
            <a:chExt cx="1065628" cy="640189"/>
          </a:xfrm>
        </p:grpSpPr>
        <p:sp>
          <p:nvSpPr>
            <p:cNvPr name="Freeform 13" id="13"/>
            <p:cNvSpPr/>
            <p:nvPr/>
          </p:nvSpPr>
          <p:spPr>
            <a:xfrm flipH="false" flipV="false" rot="0">
              <a:off x="0" y="0"/>
              <a:ext cx="1065628" cy="640189"/>
            </a:xfrm>
            <a:custGeom>
              <a:avLst/>
              <a:gdLst/>
              <a:ahLst/>
              <a:cxnLst/>
              <a:rect r="r" b="b" t="t" l="l"/>
              <a:pathLst>
                <a:path h="640189" w="1065628">
                  <a:moveTo>
                    <a:pt x="0" y="0"/>
                  </a:moveTo>
                  <a:lnTo>
                    <a:pt x="1065628" y="0"/>
                  </a:lnTo>
                  <a:lnTo>
                    <a:pt x="1065628" y="640189"/>
                  </a:lnTo>
                  <a:lnTo>
                    <a:pt x="0" y="640189"/>
                  </a:lnTo>
                  <a:close/>
                </a:path>
              </a:pathLst>
            </a:custGeom>
            <a:solidFill>
              <a:srgbClr val="EDEDED"/>
            </a:solidFill>
          </p:spPr>
        </p:sp>
        <p:sp>
          <p:nvSpPr>
            <p:cNvPr name="TextBox 14" id="14"/>
            <p:cNvSpPr txBox="true"/>
            <p:nvPr/>
          </p:nvSpPr>
          <p:spPr>
            <a:xfrm>
              <a:off x="0" y="-47625"/>
              <a:ext cx="1065628" cy="687814"/>
            </a:xfrm>
            <a:prstGeom prst="rect">
              <a:avLst/>
            </a:prstGeom>
          </p:spPr>
          <p:txBody>
            <a:bodyPr anchor="ctr" rtlCol="false" tIns="50800" lIns="50800" bIns="50800" rIns="50800"/>
            <a:lstStyle/>
            <a:p>
              <a:pPr algn="ctr">
                <a:lnSpc>
                  <a:spcPts val="2659"/>
                </a:lnSpc>
              </a:pPr>
            </a:p>
          </p:txBody>
        </p:sp>
      </p:grpSp>
      <p:sp>
        <p:nvSpPr>
          <p:cNvPr name="TextBox 15" id="15"/>
          <p:cNvSpPr txBox="true"/>
          <p:nvPr/>
        </p:nvSpPr>
        <p:spPr>
          <a:xfrm rot="0">
            <a:off x="2371789" y="4324319"/>
            <a:ext cx="11743597" cy="6149340"/>
          </a:xfrm>
          <a:prstGeom prst="rect">
            <a:avLst/>
          </a:prstGeom>
        </p:spPr>
        <p:txBody>
          <a:bodyPr anchor="t" rtlCol="false" tIns="0" lIns="0" bIns="0" rIns="0">
            <a:spAutoFit/>
          </a:bodyPr>
          <a:lstStyle/>
          <a:p>
            <a:pPr algn="just">
              <a:lnSpc>
                <a:spcPts val="5459"/>
              </a:lnSpc>
            </a:pPr>
            <a:r>
              <a:rPr lang="en-US" sz="3900">
                <a:solidFill>
                  <a:srgbClr val="FFFFFF"/>
                </a:solidFill>
                <a:latin typeface="Mardoto"/>
                <a:ea typeface="Mardoto"/>
                <a:cs typeface="Mardoto"/>
                <a:sym typeface="Mardoto"/>
              </a:rPr>
              <a:t>Se tiene como resultados de aprendizaje realizar:</a:t>
            </a:r>
          </a:p>
          <a:p>
            <a:pPr algn="l" marL="842010" indent="-421005" lvl="1">
              <a:lnSpc>
                <a:spcPts val="5459"/>
              </a:lnSpc>
              <a:buAutoNum type="arabicPeriod" startAt="1"/>
            </a:pPr>
            <a:r>
              <a:rPr lang="en-US" sz="3900">
                <a:solidFill>
                  <a:srgbClr val="FFFFFF"/>
                </a:solidFill>
                <a:latin typeface="Mardoto"/>
                <a:ea typeface="Mardoto"/>
                <a:cs typeface="Mardoto"/>
                <a:sym typeface="Mardoto"/>
              </a:rPr>
              <a:t>Elaborar y diseñar el diseño técnico del sistema.</a:t>
            </a:r>
          </a:p>
          <a:p>
            <a:pPr algn="l" marL="842010" indent="-421005" lvl="1">
              <a:lnSpc>
                <a:spcPts val="5459"/>
              </a:lnSpc>
              <a:buAutoNum type="arabicPeriod" startAt="1"/>
            </a:pPr>
            <a:r>
              <a:rPr lang="en-US" sz="3900">
                <a:solidFill>
                  <a:srgbClr val="FFFFFF"/>
                </a:solidFill>
                <a:latin typeface="Mardoto"/>
                <a:ea typeface="Mardoto"/>
                <a:cs typeface="Mardoto"/>
                <a:sym typeface="Mardoto"/>
              </a:rPr>
              <a:t>Construir modelos estructurales y de comportamiento </a:t>
            </a:r>
          </a:p>
          <a:p>
            <a:pPr algn="l" marL="842010" indent="-421005" lvl="1">
              <a:lnSpc>
                <a:spcPts val="5459"/>
              </a:lnSpc>
              <a:buAutoNum type="arabicPeriod" startAt="1"/>
            </a:pPr>
            <a:r>
              <a:rPr lang="en-US" sz="3900">
                <a:solidFill>
                  <a:srgbClr val="FFFFFF"/>
                </a:solidFill>
                <a:latin typeface="Mardoto"/>
                <a:ea typeface="Mardoto"/>
                <a:cs typeface="Mardoto"/>
                <a:sym typeface="Mardoto"/>
              </a:rPr>
              <a:t>Definir la arquitectura orientada a servicios </a:t>
            </a:r>
          </a:p>
          <a:p>
            <a:pPr algn="l" marL="842010" indent="-421005" lvl="1">
              <a:lnSpc>
                <a:spcPts val="5459"/>
              </a:lnSpc>
              <a:buAutoNum type="arabicPeriod" startAt="1"/>
            </a:pPr>
            <a:r>
              <a:rPr lang="en-US" sz="3900">
                <a:solidFill>
                  <a:srgbClr val="FFFFFF"/>
                </a:solidFill>
                <a:latin typeface="Mardoto"/>
                <a:ea typeface="Mardoto"/>
                <a:cs typeface="Mardoto"/>
                <a:sym typeface="Mardoto"/>
              </a:rPr>
              <a:t>Identificar necesidades del entorno para plantear soluciones tecnológicas.</a:t>
            </a:r>
          </a:p>
          <a:p>
            <a:pPr algn="just">
              <a:lnSpc>
                <a:spcPts val="5459"/>
              </a:lnSpc>
            </a:pPr>
          </a:p>
          <a:p>
            <a:pPr algn="just">
              <a:lnSpc>
                <a:spcPts val="5459"/>
              </a:lnSpc>
              <a:spcBef>
                <a:spcPct val="0"/>
              </a:spcBef>
            </a:pPr>
          </a:p>
        </p:txBody>
      </p:sp>
      <p:grpSp>
        <p:nvGrpSpPr>
          <p:cNvPr name="Group 16" id="16"/>
          <p:cNvGrpSpPr/>
          <p:nvPr/>
        </p:nvGrpSpPr>
        <p:grpSpPr>
          <a:xfrm rot="5400000">
            <a:off x="1499445" y="-1000"/>
            <a:ext cx="204131" cy="1145622"/>
            <a:chOff x="0" y="0"/>
            <a:chExt cx="272175" cy="1527496"/>
          </a:xfrm>
        </p:grpSpPr>
        <p:grpSp>
          <p:nvGrpSpPr>
            <p:cNvPr name="Group 17" id="17"/>
            <p:cNvGrpSpPr/>
            <p:nvPr/>
          </p:nvGrpSpPr>
          <p:grpSpPr>
            <a:xfrm rot="0">
              <a:off x="0" y="0"/>
              <a:ext cx="272175" cy="272175"/>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91C59"/>
              </a:solidFill>
            </p:spPr>
          </p:sp>
          <p:sp>
            <p:nvSpPr>
              <p:cNvPr name="TextBox 19" id="19"/>
              <p:cNvSpPr txBox="true"/>
              <p:nvPr/>
            </p:nvSpPr>
            <p:spPr>
              <a:xfrm>
                <a:off x="76200" y="28575"/>
                <a:ext cx="660400" cy="708025"/>
              </a:xfrm>
              <a:prstGeom prst="rect">
                <a:avLst/>
              </a:prstGeom>
            </p:spPr>
            <p:txBody>
              <a:bodyPr anchor="ctr" rtlCol="false" tIns="114559" lIns="114559" bIns="114559" rIns="114559"/>
              <a:lstStyle/>
              <a:p>
                <a:pPr algn="ctr">
                  <a:lnSpc>
                    <a:spcPts val="2660"/>
                  </a:lnSpc>
                </a:pPr>
              </a:p>
            </p:txBody>
          </p:sp>
        </p:grpSp>
        <p:grpSp>
          <p:nvGrpSpPr>
            <p:cNvPr name="Group 20" id="20"/>
            <p:cNvGrpSpPr/>
            <p:nvPr/>
          </p:nvGrpSpPr>
          <p:grpSpPr>
            <a:xfrm rot="0">
              <a:off x="0" y="627661"/>
              <a:ext cx="272175" cy="272175"/>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91C59"/>
              </a:solidFill>
            </p:spPr>
          </p:sp>
          <p:sp>
            <p:nvSpPr>
              <p:cNvPr name="TextBox 22" id="22"/>
              <p:cNvSpPr txBox="true"/>
              <p:nvPr/>
            </p:nvSpPr>
            <p:spPr>
              <a:xfrm>
                <a:off x="76200" y="28575"/>
                <a:ext cx="660400" cy="708025"/>
              </a:xfrm>
              <a:prstGeom prst="rect">
                <a:avLst/>
              </a:prstGeom>
            </p:spPr>
            <p:txBody>
              <a:bodyPr anchor="ctr" rtlCol="false" tIns="114559" lIns="114559" bIns="114559" rIns="114559"/>
              <a:lstStyle/>
              <a:p>
                <a:pPr algn="ctr">
                  <a:lnSpc>
                    <a:spcPts val="2660"/>
                  </a:lnSpc>
                </a:pPr>
              </a:p>
            </p:txBody>
          </p:sp>
        </p:grpSp>
        <p:grpSp>
          <p:nvGrpSpPr>
            <p:cNvPr name="Group 23" id="23"/>
            <p:cNvGrpSpPr/>
            <p:nvPr/>
          </p:nvGrpSpPr>
          <p:grpSpPr>
            <a:xfrm rot="0">
              <a:off x="0" y="1255321"/>
              <a:ext cx="272175" cy="272175"/>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91C59"/>
              </a:solidFill>
            </p:spPr>
          </p:sp>
          <p:sp>
            <p:nvSpPr>
              <p:cNvPr name="TextBox 25" id="25"/>
              <p:cNvSpPr txBox="true"/>
              <p:nvPr/>
            </p:nvSpPr>
            <p:spPr>
              <a:xfrm>
                <a:off x="76200" y="28575"/>
                <a:ext cx="660400" cy="708025"/>
              </a:xfrm>
              <a:prstGeom prst="rect">
                <a:avLst/>
              </a:prstGeom>
            </p:spPr>
            <p:txBody>
              <a:bodyPr anchor="ctr" rtlCol="false" tIns="114559" lIns="114559" bIns="114559" rIns="114559"/>
              <a:lstStyle/>
              <a:p>
                <a:pPr algn="ctr">
                  <a:lnSpc>
                    <a:spcPts val="2660"/>
                  </a:lnSpc>
                </a:pPr>
              </a:p>
            </p:txBody>
          </p:sp>
        </p:grpSp>
      </p:grpSp>
      <p:grpSp>
        <p:nvGrpSpPr>
          <p:cNvPr name="Group 26" id="26"/>
          <p:cNvGrpSpPr/>
          <p:nvPr/>
        </p:nvGrpSpPr>
        <p:grpSpPr>
          <a:xfrm rot="5400000">
            <a:off x="16765398" y="9120930"/>
            <a:ext cx="204131" cy="1145622"/>
            <a:chOff x="0" y="0"/>
            <a:chExt cx="272175" cy="1527496"/>
          </a:xfrm>
        </p:grpSpPr>
        <p:grpSp>
          <p:nvGrpSpPr>
            <p:cNvPr name="Group 27" id="27"/>
            <p:cNvGrpSpPr/>
            <p:nvPr/>
          </p:nvGrpSpPr>
          <p:grpSpPr>
            <a:xfrm rot="0">
              <a:off x="0" y="0"/>
              <a:ext cx="272175" cy="272175"/>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91C59"/>
              </a:solidFill>
            </p:spPr>
          </p:sp>
          <p:sp>
            <p:nvSpPr>
              <p:cNvPr name="TextBox 29" id="29"/>
              <p:cNvSpPr txBox="true"/>
              <p:nvPr/>
            </p:nvSpPr>
            <p:spPr>
              <a:xfrm>
                <a:off x="76200" y="28575"/>
                <a:ext cx="660400" cy="708025"/>
              </a:xfrm>
              <a:prstGeom prst="rect">
                <a:avLst/>
              </a:prstGeom>
            </p:spPr>
            <p:txBody>
              <a:bodyPr anchor="ctr" rtlCol="false" tIns="114559" lIns="114559" bIns="114559" rIns="114559"/>
              <a:lstStyle/>
              <a:p>
                <a:pPr algn="ctr">
                  <a:lnSpc>
                    <a:spcPts val="2660"/>
                  </a:lnSpc>
                </a:pPr>
              </a:p>
            </p:txBody>
          </p:sp>
        </p:grpSp>
        <p:grpSp>
          <p:nvGrpSpPr>
            <p:cNvPr name="Group 30" id="30"/>
            <p:cNvGrpSpPr/>
            <p:nvPr/>
          </p:nvGrpSpPr>
          <p:grpSpPr>
            <a:xfrm rot="0">
              <a:off x="0" y="627661"/>
              <a:ext cx="272175" cy="272175"/>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91C59"/>
              </a:solidFill>
            </p:spPr>
          </p:sp>
          <p:sp>
            <p:nvSpPr>
              <p:cNvPr name="TextBox 32" id="32"/>
              <p:cNvSpPr txBox="true"/>
              <p:nvPr/>
            </p:nvSpPr>
            <p:spPr>
              <a:xfrm>
                <a:off x="76200" y="28575"/>
                <a:ext cx="660400" cy="708025"/>
              </a:xfrm>
              <a:prstGeom prst="rect">
                <a:avLst/>
              </a:prstGeom>
            </p:spPr>
            <p:txBody>
              <a:bodyPr anchor="ctr" rtlCol="false" tIns="114559" lIns="114559" bIns="114559" rIns="114559"/>
              <a:lstStyle/>
              <a:p>
                <a:pPr algn="ctr">
                  <a:lnSpc>
                    <a:spcPts val="2660"/>
                  </a:lnSpc>
                </a:pPr>
              </a:p>
            </p:txBody>
          </p:sp>
        </p:grpSp>
        <p:grpSp>
          <p:nvGrpSpPr>
            <p:cNvPr name="Group 33" id="33"/>
            <p:cNvGrpSpPr/>
            <p:nvPr/>
          </p:nvGrpSpPr>
          <p:grpSpPr>
            <a:xfrm rot="0">
              <a:off x="0" y="1255321"/>
              <a:ext cx="272175" cy="272175"/>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91C59"/>
              </a:solidFill>
            </p:spPr>
          </p:sp>
          <p:sp>
            <p:nvSpPr>
              <p:cNvPr name="TextBox 35" id="35"/>
              <p:cNvSpPr txBox="true"/>
              <p:nvPr/>
            </p:nvSpPr>
            <p:spPr>
              <a:xfrm>
                <a:off x="76200" y="28575"/>
                <a:ext cx="660400" cy="708025"/>
              </a:xfrm>
              <a:prstGeom prst="rect">
                <a:avLst/>
              </a:prstGeom>
            </p:spPr>
            <p:txBody>
              <a:bodyPr anchor="ctr" rtlCol="false" tIns="114559" lIns="114559" bIns="114559" rIns="114559"/>
              <a:lstStyle/>
              <a:p>
                <a:pPr algn="ctr">
                  <a:lnSpc>
                    <a:spcPts val="2660"/>
                  </a:lnSpc>
                </a:pPr>
              </a:p>
            </p:txBody>
          </p:sp>
        </p:grpSp>
      </p:grpSp>
    </p:spTree>
  </p:cSld>
  <p:clrMapOvr>
    <a:masterClrMapping/>
  </p:clrMapOvr>
</p:sld>
</file>

<file path=ppt/slides/slide9.xml><?xml version="1.0" encoding="utf-8"?>
<p:sld xmlns:p="http://schemas.openxmlformats.org/presentationml/2006/main" xmlns:a="http://schemas.openxmlformats.org/drawingml/2006/main">
  <p:cSld>
    <p:bg>
      <p:bgPr>
        <a:solidFill>
          <a:srgbClr val="EDEDED"/>
        </a:solidFill>
      </p:bgPr>
    </p:bg>
    <p:spTree>
      <p:nvGrpSpPr>
        <p:cNvPr id="1" name=""/>
        <p:cNvGrpSpPr/>
        <p:nvPr/>
      </p:nvGrpSpPr>
      <p:grpSpPr>
        <a:xfrm>
          <a:off x="0" y="0"/>
          <a:ext cx="0" cy="0"/>
          <a:chOff x="0" y="0"/>
          <a:chExt cx="0" cy="0"/>
        </a:xfrm>
      </p:grpSpPr>
      <p:grpSp>
        <p:nvGrpSpPr>
          <p:cNvPr name="Group 2" id="2"/>
          <p:cNvGrpSpPr/>
          <p:nvPr/>
        </p:nvGrpSpPr>
        <p:grpSpPr>
          <a:xfrm rot="0">
            <a:off x="2376196" y="1694718"/>
            <a:ext cx="13577011" cy="6897563"/>
            <a:chOff x="0" y="0"/>
            <a:chExt cx="3575838" cy="1816642"/>
          </a:xfrm>
        </p:grpSpPr>
        <p:sp>
          <p:nvSpPr>
            <p:cNvPr name="Freeform 3" id="3"/>
            <p:cNvSpPr/>
            <p:nvPr/>
          </p:nvSpPr>
          <p:spPr>
            <a:xfrm flipH="false" flipV="false" rot="0">
              <a:off x="0" y="0"/>
              <a:ext cx="3575838" cy="1816642"/>
            </a:xfrm>
            <a:custGeom>
              <a:avLst/>
              <a:gdLst/>
              <a:ahLst/>
              <a:cxnLst/>
              <a:rect r="r" b="b" t="t" l="l"/>
              <a:pathLst>
                <a:path h="1816642" w="3575838">
                  <a:moveTo>
                    <a:pt x="0" y="0"/>
                  </a:moveTo>
                  <a:lnTo>
                    <a:pt x="3575838" y="0"/>
                  </a:lnTo>
                  <a:lnTo>
                    <a:pt x="3575838" y="1816642"/>
                  </a:lnTo>
                  <a:lnTo>
                    <a:pt x="0" y="1816642"/>
                  </a:lnTo>
                  <a:close/>
                </a:path>
              </a:pathLst>
            </a:custGeom>
            <a:ln w="104775" cap="sq">
              <a:solidFill>
                <a:srgbClr val="2B326B"/>
              </a:solidFill>
              <a:prstDash val="solid"/>
              <a:miter/>
            </a:ln>
          </p:spPr>
        </p:sp>
        <p:sp>
          <p:nvSpPr>
            <p:cNvPr name="TextBox 4" id="4"/>
            <p:cNvSpPr txBox="true"/>
            <p:nvPr/>
          </p:nvSpPr>
          <p:spPr>
            <a:xfrm>
              <a:off x="0" y="-47625"/>
              <a:ext cx="3575838" cy="1864267"/>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2112780" y="3061827"/>
            <a:ext cx="14103844" cy="3754374"/>
          </a:xfrm>
          <a:prstGeom prst="rect">
            <a:avLst/>
          </a:prstGeom>
        </p:spPr>
        <p:txBody>
          <a:bodyPr anchor="t" rtlCol="false" tIns="0" lIns="0" bIns="0" rIns="0">
            <a:spAutoFit/>
          </a:bodyPr>
          <a:lstStyle/>
          <a:p>
            <a:pPr algn="ctr">
              <a:lnSpc>
                <a:spcPts val="14882"/>
              </a:lnSpc>
            </a:pPr>
            <a:r>
              <a:rPr lang="en-US" b="true" sz="12099">
                <a:solidFill>
                  <a:srgbClr val="191C59"/>
                </a:solidFill>
                <a:latin typeface="Montaser Arabic Bold"/>
                <a:ea typeface="Montaser Arabic Bold"/>
                <a:cs typeface="Montaser Arabic Bold"/>
                <a:sym typeface="Montaser Arabic Bold"/>
              </a:rPr>
              <a:t>MUCHAS</a:t>
            </a:r>
          </a:p>
          <a:p>
            <a:pPr algn="ctr">
              <a:lnSpc>
                <a:spcPts val="14882"/>
              </a:lnSpc>
            </a:pPr>
            <a:r>
              <a:rPr lang="en-US" b="true" sz="12099">
                <a:solidFill>
                  <a:srgbClr val="191C59"/>
                </a:solidFill>
                <a:latin typeface="Montaser Arabic Bold"/>
                <a:ea typeface="Montaser Arabic Bold"/>
                <a:cs typeface="Montaser Arabic Bold"/>
                <a:sym typeface="Montaser Arabic Bold"/>
              </a:rPr>
              <a:t>GRACIAS</a:t>
            </a:r>
          </a:p>
        </p:txBody>
      </p:sp>
      <p:grpSp>
        <p:nvGrpSpPr>
          <p:cNvPr name="Group 6" id="6"/>
          <p:cNvGrpSpPr/>
          <p:nvPr/>
        </p:nvGrpSpPr>
        <p:grpSpPr>
          <a:xfrm rot="0">
            <a:off x="-1760233" y="-877303"/>
            <a:ext cx="3086100" cy="12041606"/>
            <a:chOff x="0" y="0"/>
            <a:chExt cx="812800" cy="3171452"/>
          </a:xfrm>
        </p:grpSpPr>
        <p:sp>
          <p:nvSpPr>
            <p:cNvPr name="Freeform 7" id="7"/>
            <p:cNvSpPr/>
            <p:nvPr/>
          </p:nvSpPr>
          <p:spPr>
            <a:xfrm flipH="false" flipV="false" rot="0">
              <a:off x="0" y="0"/>
              <a:ext cx="812800" cy="3171452"/>
            </a:xfrm>
            <a:custGeom>
              <a:avLst/>
              <a:gdLst/>
              <a:ahLst/>
              <a:cxnLst/>
              <a:rect r="r" b="b" t="t" l="l"/>
              <a:pathLst>
                <a:path h="3171452" w="812800">
                  <a:moveTo>
                    <a:pt x="0" y="0"/>
                  </a:moveTo>
                  <a:lnTo>
                    <a:pt x="812800" y="0"/>
                  </a:lnTo>
                  <a:lnTo>
                    <a:pt x="812800" y="3171452"/>
                  </a:lnTo>
                  <a:lnTo>
                    <a:pt x="0" y="3171452"/>
                  </a:lnTo>
                  <a:close/>
                </a:path>
              </a:pathLst>
            </a:custGeom>
            <a:solidFill>
              <a:srgbClr val="2B326B"/>
            </a:solidFill>
          </p:spPr>
        </p:sp>
        <p:sp>
          <p:nvSpPr>
            <p:cNvPr name="TextBox 8" id="8"/>
            <p:cNvSpPr txBox="true"/>
            <p:nvPr/>
          </p:nvSpPr>
          <p:spPr>
            <a:xfrm>
              <a:off x="0" y="-47625"/>
              <a:ext cx="812800" cy="3219077"/>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4986408" y="1368788"/>
            <a:ext cx="1306415" cy="1409933"/>
            <a:chOff x="0" y="0"/>
            <a:chExt cx="476073" cy="513796"/>
          </a:xfrm>
        </p:grpSpPr>
        <p:sp>
          <p:nvSpPr>
            <p:cNvPr name="Freeform 10" id="10"/>
            <p:cNvSpPr/>
            <p:nvPr/>
          </p:nvSpPr>
          <p:spPr>
            <a:xfrm flipH="false" flipV="false" rot="0">
              <a:off x="0" y="0"/>
              <a:ext cx="476073" cy="513796"/>
            </a:xfrm>
            <a:custGeom>
              <a:avLst/>
              <a:gdLst/>
              <a:ahLst/>
              <a:cxnLst/>
              <a:rect r="r" b="b" t="t" l="l"/>
              <a:pathLst>
                <a:path h="513796" w="476073">
                  <a:moveTo>
                    <a:pt x="0" y="0"/>
                  </a:moveTo>
                  <a:lnTo>
                    <a:pt x="476073" y="0"/>
                  </a:lnTo>
                  <a:lnTo>
                    <a:pt x="476073" y="513796"/>
                  </a:lnTo>
                  <a:lnTo>
                    <a:pt x="0" y="513796"/>
                  </a:lnTo>
                  <a:close/>
                </a:path>
              </a:pathLst>
            </a:custGeom>
            <a:solidFill>
              <a:srgbClr val="2B326B"/>
            </a:solidFill>
          </p:spPr>
        </p:sp>
        <p:sp>
          <p:nvSpPr>
            <p:cNvPr name="TextBox 11" id="11"/>
            <p:cNvSpPr txBox="true"/>
            <p:nvPr/>
          </p:nvSpPr>
          <p:spPr>
            <a:xfrm>
              <a:off x="0" y="-47625"/>
              <a:ext cx="476073" cy="561421"/>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14889506" y="9258300"/>
            <a:ext cx="4046056" cy="2430717"/>
            <a:chOff x="0" y="0"/>
            <a:chExt cx="1065628" cy="640189"/>
          </a:xfrm>
        </p:grpSpPr>
        <p:sp>
          <p:nvSpPr>
            <p:cNvPr name="Freeform 13" id="13"/>
            <p:cNvSpPr/>
            <p:nvPr/>
          </p:nvSpPr>
          <p:spPr>
            <a:xfrm flipH="false" flipV="false" rot="0">
              <a:off x="0" y="0"/>
              <a:ext cx="1065628" cy="640189"/>
            </a:xfrm>
            <a:custGeom>
              <a:avLst/>
              <a:gdLst/>
              <a:ahLst/>
              <a:cxnLst/>
              <a:rect r="r" b="b" t="t" l="l"/>
              <a:pathLst>
                <a:path h="640189" w="1065628">
                  <a:moveTo>
                    <a:pt x="0" y="0"/>
                  </a:moveTo>
                  <a:lnTo>
                    <a:pt x="1065628" y="0"/>
                  </a:lnTo>
                  <a:lnTo>
                    <a:pt x="1065628" y="640189"/>
                  </a:lnTo>
                  <a:lnTo>
                    <a:pt x="0" y="640189"/>
                  </a:lnTo>
                  <a:close/>
                </a:path>
              </a:pathLst>
            </a:custGeom>
            <a:solidFill>
              <a:srgbClr val="2B326B"/>
            </a:solidFill>
          </p:spPr>
        </p:sp>
        <p:sp>
          <p:nvSpPr>
            <p:cNvPr name="TextBox 14" id="14"/>
            <p:cNvSpPr txBox="true"/>
            <p:nvPr/>
          </p:nvSpPr>
          <p:spPr>
            <a:xfrm>
              <a:off x="0" y="-47625"/>
              <a:ext cx="1065628" cy="687814"/>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548500" y="741664"/>
            <a:ext cx="204131" cy="1145622"/>
            <a:chOff x="0" y="0"/>
            <a:chExt cx="272175" cy="1527496"/>
          </a:xfrm>
        </p:grpSpPr>
        <p:grpSp>
          <p:nvGrpSpPr>
            <p:cNvPr name="Group 16" id="16"/>
            <p:cNvGrpSpPr/>
            <p:nvPr/>
          </p:nvGrpSpPr>
          <p:grpSpPr>
            <a:xfrm rot="0">
              <a:off x="0" y="0"/>
              <a:ext cx="272175" cy="272175"/>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DEDED"/>
              </a:solidFill>
            </p:spPr>
          </p:sp>
          <p:sp>
            <p:nvSpPr>
              <p:cNvPr name="TextBox 18" id="18"/>
              <p:cNvSpPr txBox="true"/>
              <p:nvPr/>
            </p:nvSpPr>
            <p:spPr>
              <a:xfrm>
                <a:off x="76200" y="28575"/>
                <a:ext cx="660400" cy="708025"/>
              </a:xfrm>
              <a:prstGeom prst="rect">
                <a:avLst/>
              </a:prstGeom>
            </p:spPr>
            <p:txBody>
              <a:bodyPr anchor="ctr" rtlCol="false" tIns="114559" lIns="114559" bIns="114559" rIns="114559"/>
              <a:lstStyle/>
              <a:p>
                <a:pPr algn="ctr">
                  <a:lnSpc>
                    <a:spcPts val="2660"/>
                  </a:lnSpc>
                </a:pPr>
              </a:p>
            </p:txBody>
          </p:sp>
        </p:grpSp>
        <p:grpSp>
          <p:nvGrpSpPr>
            <p:cNvPr name="Group 19" id="19"/>
            <p:cNvGrpSpPr/>
            <p:nvPr/>
          </p:nvGrpSpPr>
          <p:grpSpPr>
            <a:xfrm rot="0">
              <a:off x="0" y="627661"/>
              <a:ext cx="272175" cy="272175"/>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DEDED"/>
              </a:solidFill>
            </p:spPr>
          </p:sp>
          <p:sp>
            <p:nvSpPr>
              <p:cNvPr name="TextBox 21" id="21"/>
              <p:cNvSpPr txBox="true"/>
              <p:nvPr/>
            </p:nvSpPr>
            <p:spPr>
              <a:xfrm>
                <a:off x="76200" y="28575"/>
                <a:ext cx="660400" cy="708025"/>
              </a:xfrm>
              <a:prstGeom prst="rect">
                <a:avLst/>
              </a:prstGeom>
            </p:spPr>
            <p:txBody>
              <a:bodyPr anchor="ctr" rtlCol="false" tIns="114559" lIns="114559" bIns="114559" rIns="114559"/>
              <a:lstStyle/>
              <a:p>
                <a:pPr algn="ctr">
                  <a:lnSpc>
                    <a:spcPts val="2660"/>
                  </a:lnSpc>
                </a:pPr>
              </a:p>
            </p:txBody>
          </p:sp>
        </p:grpSp>
        <p:grpSp>
          <p:nvGrpSpPr>
            <p:cNvPr name="Group 22" id="22"/>
            <p:cNvGrpSpPr/>
            <p:nvPr/>
          </p:nvGrpSpPr>
          <p:grpSpPr>
            <a:xfrm rot="0">
              <a:off x="0" y="1255321"/>
              <a:ext cx="272175" cy="272175"/>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DEDED"/>
              </a:solidFill>
            </p:spPr>
          </p:sp>
          <p:sp>
            <p:nvSpPr>
              <p:cNvPr name="TextBox 24" id="24"/>
              <p:cNvSpPr txBox="true"/>
              <p:nvPr/>
            </p:nvSpPr>
            <p:spPr>
              <a:xfrm>
                <a:off x="76200" y="28575"/>
                <a:ext cx="660400" cy="708025"/>
              </a:xfrm>
              <a:prstGeom prst="rect">
                <a:avLst/>
              </a:prstGeom>
            </p:spPr>
            <p:txBody>
              <a:bodyPr anchor="ctr" rtlCol="false" tIns="114559" lIns="114559" bIns="114559" rIns="114559"/>
              <a:lstStyle/>
              <a:p>
                <a:pPr algn="ctr">
                  <a:lnSpc>
                    <a:spcPts val="2660"/>
                  </a:lnSpc>
                </a:pPr>
              </a:p>
            </p:txBody>
          </p:sp>
        </p:grpSp>
      </p:grpSp>
      <p:grpSp>
        <p:nvGrpSpPr>
          <p:cNvPr name="Group 25" id="25"/>
          <p:cNvGrpSpPr/>
          <p:nvPr/>
        </p:nvGrpSpPr>
        <p:grpSpPr>
          <a:xfrm rot="5400000">
            <a:off x="16905719" y="9142704"/>
            <a:ext cx="204131" cy="1145622"/>
            <a:chOff x="0" y="0"/>
            <a:chExt cx="272175" cy="1527496"/>
          </a:xfrm>
        </p:grpSpPr>
        <p:grpSp>
          <p:nvGrpSpPr>
            <p:cNvPr name="Group 26" id="26"/>
            <p:cNvGrpSpPr/>
            <p:nvPr/>
          </p:nvGrpSpPr>
          <p:grpSpPr>
            <a:xfrm rot="0">
              <a:off x="0" y="0"/>
              <a:ext cx="272175" cy="272175"/>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DEDED"/>
              </a:solidFill>
            </p:spPr>
          </p:sp>
          <p:sp>
            <p:nvSpPr>
              <p:cNvPr name="TextBox 28" id="28"/>
              <p:cNvSpPr txBox="true"/>
              <p:nvPr/>
            </p:nvSpPr>
            <p:spPr>
              <a:xfrm>
                <a:off x="76200" y="28575"/>
                <a:ext cx="660400" cy="708025"/>
              </a:xfrm>
              <a:prstGeom prst="rect">
                <a:avLst/>
              </a:prstGeom>
            </p:spPr>
            <p:txBody>
              <a:bodyPr anchor="ctr" rtlCol="false" tIns="114559" lIns="114559" bIns="114559" rIns="114559"/>
              <a:lstStyle/>
              <a:p>
                <a:pPr algn="ctr">
                  <a:lnSpc>
                    <a:spcPts val="2660"/>
                  </a:lnSpc>
                </a:pPr>
              </a:p>
            </p:txBody>
          </p:sp>
        </p:grpSp>
        <p:grpSp>
          <p:nvGrpSpPr>
            <p:cNvPr name="Group 29" id="29"/>
            <p:cNvGrpSpPr/>
            <p:nvPr/>
          </p:nvGrpSpPr>
          <p:grpSpPr>
            <a:xfrm rot="0">
              <a:off x="0" y="627661"/>
              <a:ext cx="272175" cy="272175"/>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DEDED"/>
              </a:solidFill>
            </p:spPr>
          </p:sp>
          <p:sp>
            <p:nvSpPr>
              <p:cNvPr name="TextBox 31" id="31"/>
              <p:cNvSpPr txBox="true"/>
              <p:nvPr/>
            </p:nvSpPr>
            <p:spPr>
              <a:xfrm>
                <a:off x="76200" y="28575"/>
                <a:ext cx="660400" cy="708025"/>
              </a:xfrm>
              <a:prstGeom prst="rect">
                <a:avLst/>
              </a:prstGeom>
            </p:spPr>
            <p:txBody>
              <a:bodyPr anchor="ctr" rtlCol="false" tIns="114559" lIns="114559" bIns="114559" rIns="114559"/>
              <a:lstStyle/>
              <a:p>
                <a:pPr algn="ctr">
                  <a:lnSpc>
                    <a:spcPts val="2660"/>
                  </a:lnSpc>
                </a:pPr>
              </a:p>
            </p:txBody>
          </p:sp>
        </p:grpSp>
        <p:grpSp>
          <p:nvGrpSpPr>
            <p:cNvPr name="Group 32" id="32"/>
            <p:cNvGrpSpPr/>
            <p:nvPr/>
          </p:nvGrpSpPr>
          <p:grpSpPr>
            <a:xfrm rot="0">
              <a:off x="0" y="1255321"/>
              <a:ext cx="272175" cy="272175"/>
              <a:chOff x="0" y="0"/>
              <a:chExt cx="812800" cy="812800"/>
            </a:xfrm>
          </p:grpSpPr>
          <p:sp>
            <p:nvSpPr>
              <p:cNvPr name="Freeform 33" id="3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DEDED"/>
              </a:solidFill>
            </p:spPr>
          </p:sp>
          <p:sp>
            <p:nvSpPr>
              <p:cNvPr name="TextBox 34" id="34"/>
              <p:cNvSpPr txBox="true"/>
              <p:nvPr/>
            </p:nvSpPr>
            <p:spPr>
              <a:xfrm>
                <a:off x="76200" y="28575"/>
                <a:ext cx="660400" cy="708025"/>
              </a:xfrm>
              <a:prstGeom prst="rect">
                <a:avLst/>
              </a:prstGeom>
            </p:spPr>
            <p:txBody>
              <a:bodyPr anchor="ctr" rtlCol="false" tIns="114559" lIns="114559" bIns="114559" rIns="114559"/>
              <a:lstStyle/>
              <a:p>
                <a:pPr algn="ctr">
                  <a:lnSpc>
                    <a:spcPts val="2660"/>
                  </a:lnSpc>
                </a:pPr>
              </a:p>
            </p:txBody>
          </p:sp>
        </p:gr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DAHBbLyXcDc</dc:identifier>
  <dcterms:modified xsi:type="dcterms:W3CDTF">2011-08-01T06:04:30Z</dcterms:modified>
  <cp:revision>1</cp:revision>
  <dc:title>Presentación Diapositivas Proyecto Final de Grado Profesional Corporativo Azul Marino</dc:title>
</cp:coreProperties>
</file>