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omorrow Bold Italics" charset="1" panose="00000000000000000000"/>
      <p:regular r:id="rId16"/>
    </p:embeddedFont>
    <p:embeddedFont>
      <p:font typeface="Tomorrow Italics" charset="1" panose="00000000000000000000"/>
      <p:regular r:id="rId17"/>
    </p:embeddedFont>
    <p:embeddedFont>
      <p:font typeface="Anonymous Pro" charset="1" panose="02060609030202000504"/>
      <p:regular r:id="rId18"/>
    </p:embeddedFont>
    <p:embeddedFont>
      <p:font typeface="Cousine" charset="1" panose="02070409020205020404"/>
      <p:regular r:id="rId19"/>
    </p:embeddedFont>
    <p:embeddedFont>
      <p:font typeface="Cousine Bold" charset="1" panose="02070709020205020404"/>
      <p:regular r:id="rId20"/>
    </p:embeddedFont>
    <p:embeddedFont>
      <p:font typeface="Anonymous Pro Bold" charset="1" panose="02060809030202000504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12.png" Type="http://schemas.openxmlformats.org/officeDocument/2006/relationships/image"/><Relationship Id="rId15" Target="../media/image13.svg" Type="http://schemas.openxmlformats.org/officeDocument/2006/relationships/image"/><Relationship Id="rId16" Target="../media/image20.png" Type="http://schemas.openxmlformats.org/officeDocument/2006/relationships/image"/><Relationship Id="rId17" Target="../media/image21.svg" Type="http://schemas.openxmlformats.org/officeDocument/2006/relationships/image"/><Relationship Id="rId18" Target="../media/image10.png" Type="http://schemas.openxmlformats.org/officeDocument/2006/relationships/image"/><Relationship Id="rId19" Target="../media/image11.svg" Type="http://schemas.openxmlformats.org/officeDocument/2006/relationships/image"/><Relationship Id="rId2" Target="../media/image2.png" Type="http://schemas.openxmlformats.org/officeDocument/2006/relationships/image"/><Relationship Id="rId20" Target="../media/image14.png" Type="http://schemas.openxmlformats.org/officeDocument/2006/relationships/image"/><Relationship Id="rId21" Target="../media/image15.sv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16" Target="../media/image24.png" Type="http://schemas.openxmlformats.org/officeDocument/2006/relationships/image"/><Relationship Id="rId17" Target="../media/image25.svg" Type="http://schemas.openxmlformats.org/officeDocument/2006/relationships/image"/><Relationship Id="rId18" Target="../media/image10.png" Type="http://schemas.openxmlformats.org/officeDocument/2006/relationships/image"/><Relationship Id="rId19" Target="../media/image11.svg" Type="http://schemas.openxmlformats.org/officeDocument/2006/relationships/image"/><Relationship Id="rId2" Target="../media/image2.png" Type="http://schemas.openxmlformats.org/officeDocument/2006/relationships/image"/><Relationship Id="rId20" Target="../media/image14.png" Type="http://schemas.openxmlformats.org/officeDocument/2006/relationships/image"/><Relationship Id="rId21" Target="../media/image15.sv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16" Target="../media/image28.png" Type="http://schemas.openxmlformats.org/officeDocument/2006/relationships/image"/><Relationship Id="rId17" Target="../media/image29.svg" Type="http://schemas.openxmlformats.org/officeDocument/2006/relationships/image"/><Relationship Id="rId18" Target="../media/image30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2.png" Type="http://schemas.openxmlformats.org/officeDocument/2006/relationships/image"/><Relationship Id="rId15" Target="../media/image13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2787836" y="4878766"/>
            <a:ext cx="190179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oval" len="lg" w="lg"/>
          </a:ln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4588609" y="8642572"/>
            <a:ext cx="2670691" cy="615728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3623782" y="4897816"/>
            <a:ext cx="190179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337309" y="4458164"/>
            <a:ext cx="7450527" cy="113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9"/>
              </a:lnSpc>
            </a:pPr>
            <a:r>
              <a:rPr lang="en-US" b="true" sz="9412" i="true">
                <a:solidFill>
                  <a:srgbClr val="FFFFFF"/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PROCESOS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00542" y="5728036"/>
            <a:ext cx="6987293" cy="1290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0"/>
              </a:lnSpc>
            </a:pPr>
            <a:r>
              <a:rPr lang="en-US" sz="2436" i="true">
                <a:solidFill>
                  <a:srgbClr val="FFFFFF"/>
                </a:solidFill>
                <a:latin typeface="Tomorrow Italics"/>
                <a:ea typeface="Tomorrow Italics"/>
                <a:cs typeface="Tomorrow Italics"/>
                <a:sym typeface="Tomorrow Italics"/>
              </a:rPr>
              <a:t>FAYBER ESTYBEN DIAZ TIERRADENTRO</a:t>
            </a:r>
          </a:p>
          <a:p>
            <a:pPr algn="ctr">
              <a:lnSpc>
                <a:spcPts val="3410"/>
              </a:lnSpc>
            </a:pPr>
            <a:r>
              <a:rPr lang="en-US" sz="2436" i="true">
                <a:solidFill>
                  <a:srgbClr val="FFFFFF"/>
                </a:solidFill>
                <a:latin typeface="Tomorrow Italics"/>
                <a:ea typeface="Tomorrow Italics"/>
                <a:cs typeface="Tomorrow Italics"/>
                <a:sym typeface="Tomorrow Italics"/>
              </a:rPr>
              <a:t>LUIGER DALIETH LEDEZMA ASPRILLA</a:t>
            </a:r>
          </a:p>
          <a:p>
            <a:pPr algn="ctr">
              <a:lnSpc>
                <a:spcPts val="3410"/>
              </a:lnSpc>
              <a:spcBef>
                <a:spcPct val="0"/>
              </a:spcBef>
            </a:pPr>
            <a:r>
              <a:rPr lang="en-US" sz="2436" i="true">
                <a:solidFill>
                  <a:srgbClr val="FFFFFF"/>
                </a:solidFill>
                <a:latin typeface="Tomorrow Italics"/>
                <a:ea typeface="Tomorrow Italics"/>
                <a:cs typeface="Tomorrow Italics"/>
                <a:sym typeface="Tomorrow Italics"/>
              </a:rPr>
              <a:t>SONIA ALEXANDRA RAMOS SOLOZARNO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8459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310814" y="4102411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336807" y="6800504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092743" y="3762832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4" y="0"/>
                </a:lnTo>
                <a:lnTo>
                  <a:pt x="1048894" y="1018382"/>
                </a:lnTo>
                <a:lnTo>
                  <a:pt x="0" y="10183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442638" y="5266989"/>
            <a:ext cx="5534722" cy="90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sz="7420" spc="-252">
                <a:solidFill>
                  <a:srgbClr val="000000"/>
                </a:solidFill>
                <a:latin typeface="Anonymous Pro"/>
                <a:ea typeface="Anonymous Pro"/>
                <a:cs typeface="Anonymous Pro"/>
                <a:sym typeface="Anonymous Pro"/>
              </a:rPr>
              <a:t>CONTENIDOS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18683" y="3470824"/>
            <a:ext cx="7121270" cy="465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6354" indent="-398177" lvl="1">
              <a:lnSpc>
                <a:spcPts val="4610"/>
              </a:lnSpc>
              <a:buAutoNum type="arabicPeriod" startAt="1"/>
            </a:pPr>
            <a:r>
              <a:rPr lang="en-US" sz="36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Definicion</a:t>
            </a:r>
          </a:p>
          <a:p>
            <a:pPr algn="l" marL="796354" indent="-398177" lvl="1">
              <a:lnSpc>
                <a:spcPts val="4610"/>
              </a:lnSpc>
              <a:buAutoNum type="arabicPeriod" startAt="1"/>
            </a:pPr>
            <a:r>
              <a:rPr lang="en-US" sz="36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Caracteristicas</a:t>
            </a:r>
          </a:p>
          <a:p>
            <a:pPr algn="l" marL="796354" indent="-398177" lvl="1">
              <a:lnSpc>
                <a:spcPts val="4610"/>
              </a:lnSpc>
              <a:buAutoNum type="arabicPeriod" startAt="1"/>
            </a:pPr>
            <a:r>
              <a:rPr lang="en-US" sz="36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Entradas</a:t>
            </a:r>
          </a:p>
          <a:p>
            <a:pPr algn="l" marL="796354" indent="-398177" lvl="1">
              <a:lnSpc>
                <a:spcPts val="4610"/>
              </a:lnSpc>
              <a:buAutoNum type="arabicPeriod" startAt="1"/>
            </a:pPr>
            <a:r>
              <a:rPr lang="en-US" sz="36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Componentes</a:t>
            </a:r>
          </a:p>
          <a:p>
            <a:pPr algn="l" marL="796354" indent="-398177" lvl="1">
              <a:lnSpc>
                <a:spcPts val="4610"/>
              </a:lnSpc>
              <a:buAutoNum type="arabicPeriod" startAt="1"/>
            </a:pPr>
            <a:r>
              <a:rPr lang="en-US" sz="36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Representacion grafica</a:t>
            </a:r>
          </a:p>
          <a:p>
            <a:pPr algn="l" marL="796354" indent="-398177" lvl="1">
              <a:lnSpc>
                <a:spcPts val="4610"/>
              </a:lnSpc>
              <a:buAutoNum type="arabicPeriod" startAt="1"/>
            </a:pPr>
            <a:r>
              <a:rPr lang="en-US" sz="36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Procedimientos</a:t>
            </a:r>
          </a:p>
          <a:p>
            <a:pPr algn="l" marL="796354" indent="-398177" lvl="1">
              <a:lnSpc>
                <a:spcPts val="4610"/>
              </a:lnSpc>
              <a:buAutoNum type="arabicPeriod" startAt="1"/>
            </a:pPr>
            <a:r>
              <a:rPr lang="en-US" sz="36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Modelo de procesos de negicios (BPM)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5115100" cy="5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Timmerman Industries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889550" y="9193555"/>
            <a:ext cx="1271608" cy="652980"/>
            <a:chOff x="0" y="0"/>
            <a:chExt cx="334909" cy="1719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523109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683415" y="6934002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5"/>
                </a:lnTo>
                <a:lnTo>
                  <a:pt x="0" y="10907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1025944" y="2483232"/>
            <a:ext cx="5986823" cy="3361967"/>
            <a:chOff x="0" y="0"/>
            <a:chExt cx="7982430" cy="44826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364024"/>
              <a:ext cx="7731159" cy="4118599"/>
            </a:xfrm>
            <a:custGeom>
              <a:avLst/>
              <a:gdLst/>
              <a:ahLst/>
              <a:cxnLst/>
              <a:rect r="r" b="b" t="t" l="l"/>
              <a:pathLst>
                <a:path h="4118599" w="7731159">
                  <a:moveTo>
                    <a:pt x="0" y="0"/>
                  </a:moveTo>
                  <a:lnTo>
                    <a:pt x="7731159" y="0"/>
                  </a:lnTo>
                  <a:lnTo>
                    <a:pt x="7731159" y="4118599"/>
                  </a:lnTo>
                  <a:lnTo>
                    <a:pt x="0" y="4118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583904" y="0"/>
              <a:ext cx="1398527" cy="1357842"/>
            </a:xfrm>
            <a:custGeom>
              <a:avLst/>
              <a:gdLst/>
              <a:ahLst/>
              <a:cxnLst/>
              <a:rect r="r" b="b" t="t" l="l"/>
              <a:pathLst>
                <a:path h="1357842" w="1398527">
                  <a:moveTo>
                    <a:pt x="0" y="0"/>
                  </a:moveTo>
                  <a:lnTo>
                    <a:pt x="1398526" y="0"/>
                  </a:lnTo>
                  <a:lnTo>
                    <a:pt x="1398526" y="1357842"/>
                  </a:lnTo>
                  <a:lnTo>
                    <a:pt x="0" y="1357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175765" y="1898497"/>
              <a:ext cx="7379630" cy="1278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07"/>
                </a:lnSpc>
              </a:pPr>
              <a:r>
                <a:rPr lang="en-US" b="true" sz="7420" spc="-252">
                  <a:solidFill>
                    <a:srgbClr val="000000"/>
                  </a:solidFill>
                  <a:latin typeface="Anonymous Pro Bold"/>
                  <a:ea typeface="Anonymous Pro Bold"/>
                  <a:cs typeface="Anonymous Pro Bold"/>
                  <a:sym typeface="Anonymous Pro Bold"/>
                </a:rPr>
                <a:t>DEFINICION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86508" y="2317347"/>
            <a:ext cx="9081073" cy="148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Un proceso es un conjunto de actividades o tareas organiza</a:t>
            </a: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das que se realizan en un orden determinado para transformar entradas (inputs) en resultados o salidas (outputs) que generan valor.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644177"/>
            <a:ext cx="5115100" cy="5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Timmerman Industries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073148" y="9193555"/>
            <a:ext cx="1271608" cy="652980"/>
            <a:chOff x="0" y="0"/>
            <a:chExt cx="334909" cy="1719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44174" y="4393516"/>
            <a:ext cx="9081073" cy="111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En otras palabras:</a:t>
            </a:r>
          </a:p>
          <a:p>
            <a:pPr algn="l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Un proceso toma algo que entra, lo transforma mediante actividades y produce un resultado útil.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4087" y="6283349"/>
            <a:ext cx="9081073" cy="223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Ejemplo:</a:t>
            </a:r>
          </a:p>
          <a:p>
            <a:pPr algn="l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Proceso de compra en una tienda</a:t>
            </a:r>
          </a:p>
          <a:p>
            <a:pPr algn="l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Entrada: pedido del cliente</a:t>
            </a:r>
          </a:p>
          <a:p>
            <a:pPr algn="l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Actividad: verificar producto, cobrar, empacar</a:t>
            </a:r>
          </a:p>
          <a:p>
            <a:pPr algn="l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Salida: producto entregado al cliente</a:t>
            </a:r>
          </a:p>
          <a:p>
            <a:pPr algn="l">
              <a:lnSpc>
                <a:spcPts val="298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523109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538489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4174" y="5402295"/>
            <a:ext cx="2976676" cy="3417332"/>
            <a:chOff x="0" y="0"/>
            <a:chExt cx="3968901" cy="455644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645934" cy="2645934"/>
            </a:xfrm>
            <a:custGeom>
              <a:avLst/>
              <a:gdLst/>
              <a:ahLst/>
              <a:cxnLst/>
              <a:rect r="r" b="b" t="t" l="l"/>
              <a:pathLst>
                <a:path h="2645934" w="2645934">
                  <a:moveTo>
                    <a:pt x="0" y="0"/>
                  </a:moveTo>
                  <a:lnTo>
                    <a:pt x="2645934" y="0"/>
                  </a:lnTo>
                  <a:lnTo>
                    <a:pt x="2645934" y="2645934"/>
                  </a:lnTo>
                  <a:lnTo>
                    <a:pt x="0" y="2645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347933" y="762765"/>
              <a:ext cx="1950069" cy="1120403"/>
            </a:xfrm>
            <a:custGeom>
              <a:avLst/>
              <a:gdLst/>
              <a:ahLst/>
              <a:cxnLst/>
              <a:rect r="r" b="b" t="t" l="l"/>
              <a:pathLst>
                <a:path h="1120403" w="1950069">
                  <a:moveTo>
                    <a:pt x="0" y="0"/>
                  </a:moveTo>
                  <a:lnTo>
                    <a:pt x="1950068" y="0"/>
                  </a:lnTo>
                  <a:lnTo>
                    <a:pt x="1950068" y="1120404"/>
                  </a:lnTo>
                  <a:lnTo>
                    <a:pt x="0" y="1120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322967" y="1910508"/>
              <a:ext cx="2645934" cy="2645934"/>
            </a:xfrm>
            <a:custGeom>
              <a:avLst/>
              <a:gdLst/>
              <a:ahLst/>
              <a:cxnLst/>
              <a:rect r="r" b="b" t="t" l="l"/>
              <a:pathLst>
                <a:path h="2645934" w="2645934">
                  <a:moveTo>
                    <a:pt x="0" y="0"/>
                  </a:moveTo>
                  <a:lnTo>
                    <a:pt x="2645934" y="0"/>
                  </a:lnTo>
                  <a:lnTo>
                    <a:pt x="2645934" y="2645934"/>
                  </a:lnTo>
                  <a:lnTo>
                    <a:pt x="0" y="2645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551675" y="2253693"/>
              <a:ext cx="567549" cy="966415"/>
            </a:xfrm>
            <a:custGeom>
              <a:avLst/>
              <a:gdLst/>
              <a:ahLst/>
              <a:cxnLst/>
              <a:rect r="r" b="b" t="t" l="l"/>
              <a:pathLst>
                <a:path h="966415" w="567549">
                  <a:moveTo>
                    <a:pt x="0" y="0"/>
                  </a:moveTo>
                  <a:lnTo>
                    <a:pt x="567549" y="0"/>
                  </a:lnTo>
                  <a:lnTo>
                    <a:pt x="567549" y="966415"/>
                  </a:lnTo>
                  <a:lnTo>
                    <a:pt x="0" y="966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963009" y="2366019"/>
              <a:ext cx="1365850" cy="1734913"/>
            </a:xfrm>
            <a:custGeom>
              <a:avLst/>
              <a:gdLst/>
              <a:ahLst/>
              <a:cxnLst/>
              <a:rect r="r" b="b" t="t" l="l"/>
              <a:pathLst>
                <a:path h="1734913" w="1365850">
                  <a:moveTo>
                    <a:pt x="0" y="0"/>
                  </a:moveTo>
                  <a:lnTo>
                    <a:pt x="1365850" y="0"/>
                  </a:lnTo>
                  <a:lnTo>
                    <a:pt x="1365850" y="1734913"/>
                  </a:lnTo>
                  <a:lnTo>
                    <a:pt x="0" y="1734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64437" y="2557416"/>
            <a:ext cx="5299959" cy="2738154"/>
            <a:chOff x="0" y="0"/>
            <a:chExt cx="7066612" cy="36508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13440" y="0"/>
              <a:ext cx="6853172" cy="3650872"/>
            </a:xfrm>
            <a:custGeom>
              <a:avLst/>
              <a:gdLst/>
              <a:ahLst/>
              <a:cxnLst/>
              <a:rect r="r" b="b" t="t" l="l"/>
              <a:pathLst>
                <a:path h="3650872" w="6853172">
                  <a:moveTo>
                    <a:pt x="0" y="0"/>
                  </a:moveTo>
                  <a:lnTo>
                    <a:pt x="6853172" y="0"/>
                  </a:lnTo>
                  <a:lnTo>
                    <a:pt x="6853172" y="3650872"/>
                  </a:lnTo>
                  <a:lnTo>
                    <a:pt x="0" y="3650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288903"/>
              <a:ext cx="1066732" cy="1035700"/>
            </a:xfrm>
            <a:custGeom>
              <a:avLst/>
              <a:gdLst/>
              <a:ahLst/>
              <a:cxnLst/>
              <a:rect r="r" b="b" t="t" l="l"/>
              <a:pathLst>
                <a:path h="1035700" w="1066732">
                  <a:moveTo>
                    <a:pt x="0" y="0"/>
                  </a:moveTo>
                  <a:lnTo>
                    <a:pt x="1066732" y="0"/>
                  </a:lnTo>
                  <a:lnTo>
                    <a:pt x="1066732" y="1035699"/>
                  </a:lnTo>
                  <a:lnTo>
                    <a:pt x="0" y="1035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213440" y="1364776"/>
              <a:ext cx="6573269" cy="811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087"/>
                </a:lnSpc>
              </a:pPr>
              <a:r>
                <a:rPr lang="en-US" b="true" sz="4808" spc="-163">
                  <a:solidFill>
                    <a:srgbClr val="000000"/>
                  </a:solidFill>
                  <a:latin typeface="Anonymous Pro Bold"/>
                  <a:ea typeface="Anonymous Pro Bold"/>
                  <a:cs typeface="Anonymous Pro Bold"/>
                  <a:sym typeface="Anonymous Pro Bold"/>
                </a:rPr>
                <a:t>CARACTERISTICAS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404762" y="2721073"/>
            <a:ext cx="7402449" cy="831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5"/>
              </a:lnSpc>
            </a:pPr>
            <a:r>
              <a:rPr lang="en-US" sz="25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Los procesos generalmente tienen estas características: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84087" y="644177"/>
            <a:ext cx="5115100" cy="5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Timmerman Industries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087526" y="3629961"/>
            <a:ext cx="8652427" cy="548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7280" indent="-268640" lvl="1">
              <a:lnSpc>
                <a:spcPts val="3110"/>
              </a:lnSpc>
              <a:buFont typeface="Arial"/>
              <a:buChar char="•"/>
            </a:pPr>
            <a:r>
              <a:rPr lang="en-US" sz="24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Tienen un objetivo: buscan lograr un resultado específico.</a:t>
            </a:r>
          </a:p>
          <a:p>
            <a:pPr algn="just" marL="537280" indent="-268640" lvl="1">
              <a:lnSpc>
                <a:spcPts val="3110"/>
              </a:lnSpc>
              <a:buFont typeface="Arial"/>
              <a:buChar char="•"/>
            </a:pPr>
            <a:r>
              <a:rPr lang="en-US" sz="24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Tienen entradas y salidas: reciben información o recursos y generan resultados.</a:t>
            </a:r>
          </a:p>
          <a:p>
            <a:pPr algn="just" marL="537280" indent="-268640" lvl="1">
              <a:lnSpc>
                <a:spcPts val="3110"/>
              </a:lnSpc>
              <a:buFont typeface="Arial"/>
              <a:buChar char="•"/>
            </a:pPr>
            <a:r>
              <a:rPr lang="en-US" sz="24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Están compuestos por actividades: varias tareas conectadas entre sí.</a:t>
            </a:r>
          </a:p>
          <a:p>
            <a:pPr algn="just" marL="537280" indent="-268640" lvl="1">
              <a:lnSpc>
                <a:spcPts val="3110"/>
              </a:lnSpc>
              <a:buFont typeface="Arial"/>
              <a:buChar char="•"/>
            </a:pPr>
            <a:r>
              <a:rPr lang="en-US" sz="24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Tienen responsables: personas o sistemas encargados de ejecutarlo.</a:t>
            </a:r>
          </a:p>
          <a:p>
            <a:pPr algn="just" marL="537280" indent="-268640" lvl="1">
              <a:lnSpc>
                <a:spcPts val="3110"/>
              </a:lnSpc>
              <a:buFont typeface="Arial"/>
              <a:buChar char="•"/>
            </a:pPr>
            <a:r>
              <a:rPr lang="en-US" sz="24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Generan valor: el resultado debe aportar algo útil al cliente o a la organización.</a:t>
            </a:r>
          </a:p>
          <a:p>
            <a:pPr algn="just" marL="537280" indent="-268640" lvl="1">
              <a:lnSpc>
                <a:spcPts val="3110"/>
              </a:lnSpc>
              <a:buFont typeface="Arial"/>
              <a:buChar char="•"/>
            </a:pPr>
            <a:r>
              <a:rPr lang="en-US" sz="24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Son repetibles: pueden realizarse varias veces de la misma manera.</a:t>
            </a:r>
          </a:p>
          <a:p>
            <a:pPr algn="just">
              <a:lnSpc>
                <a:spcPts val="311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397585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6661786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309109" y="3988793"/>
            <a:ext cx="2316059" cy="2046555"/>
            <a:chOff x="0" y="0"/>
            <a:chExt cx="3088079" cy="27287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1010465"/>
              <a:ext cx="1718275" cy="1718275"/>
            </a:xfrm>
            <a:custGeom>
              <a:avLst/>
              <a:gdLst/>
              <a:ahLst/>
              <a:cxnLst/>
              <a:rect r="r" b="b" t="t" l="l"/>
              <a:pathLst>
                <a:path h="1718275" w="1718275">
                  <a:moveTo>
                    <a:pt x="0" y="0"/>
                  </a:moveTo>
                  <a:lnTo>
                    <a:pt x="1718275" y="0"/>
                  </a:lnTo>
                  <a:lnTo>
                    <a:pt x="1718275" y="1718275"/>
                  </a:lnTo>
                  <a:lnTo>
                    <a:pt x="0" y="1718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369804" y="0"/>
              <a:ext cx="1718275" cy="1718275"/>
            </a:xfrm>
            <a:custGeom>
              <a:avLst/>
              <a:gdLst/>
              <a:ahLst/>
              <a:cxnLst/>
              <a:rect r="r" b="b" t="t" l="l"/>
              <a:pathLst>
                <a:path h="1718275" w="1718275">
                  <a:moveTo>
                    <a:pt x="0" y="0"/>
                  </a:moveTo>
                  <a:lnTo>
                    <a:pt x="1718275" y="0"/>
                  </a:lnTo>
                  <a:lnTo>
                    <a:pt x="1718275" y="1718275"/>
                  </a:lnTo>
                  <a:lnTo>
                    <a:pt x="0" y="1718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860374" y="1537436"/>
              <a:ext cx="368568" cy="627592"/>
            </a:xfrm>
            <a:custGeom>
              <a:avLst/>
              <a:gdLst/>
              <a:ahLst/>
              <a:cxnLst/>
              <a:rect r="r" b="b" t="t" l="l"/>
              <a:pathLst>
                <a:path h="627592" w="368568">
                  <a:moveTo>
                    <a:pt x="0" y="0"/>
                  </a:moveTo>
                  <a:lnTo>
                    <a:pt x="368567" y="0"/>
                  </a:lnTo>
                  <a:lnTo>
                    <a:pt x="368567" y="627592"/>
                  </a:lnTo>
                  <a:lnTo>
                    <a:pt x="0" y="627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807185" y="536302"/>
              <a:ext cx="843514" cy="645671"/>
            </a:xfrm>
            <a:custGeom>
              <a:avLst/>
              <a:gdLst/>
              <a:ahLst/>
              <a:cxnLst/>
              <a:rect r="r" b="b" t="t" l="l"/>
              <a:pathLst>
                <a:path h="645671" w="843514">
                  <a:moveTo>
                    <a:pt x="0" y="0"/>
                  </a:moveTo>
                  <a:lnTo>
                    <a:pt x="843513" y="0"/>
                  </a:lnTo>
                  <a:lnTo>
                    <a:pt x="843513" y="645671"/>
                  </a:lnTo>
                  <a:lnTo>
                    <a:pt x="0" y="645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434090" y="1475016"/>
              <a:ext cx="850096" cy="895695"/>
            </a:xfrm>
            <a:custGeom>
              <a:avLst/>
              <a:gdLst/>
              <a:ahLst/>
              <a:cxnLst/>
              <a:rect r="r" b="b" t="t" l="l"/>
              <a:pathLst>
                <a:path h="895695" w="850096">
                  <a:moveTo>
                    <a:pt x="0" y="0"/>
                  </a:moveTo>
                  <a:lnTo>
                    <a:pt x="850096" y="0"/>
                  </a:lnTo>
                  <a:lnTo>
                    <a:pt x="850096" y="895695"/>
                  </a:lnTo>
                  <a:lnTo>
                    <a:pt x="0" y="895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981927" y="1875975"/>
            <a:ext cx="5370913" cy="2749965"/>
            <a:chOff x="0" y="0"/>
            <a:chExt cx="7161217" cy="36666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380672" y="180824"/>
              <a:ext cx="6543303" cy="3485796"/>
            </a:xfrm>
            <a:custGeom>
              <a:avLst/>
              <a:gdLst/>
              <a:ahLst/>
              <a:cxnLst/>
              <a:rect r="r" b="b" t="t" l="l"/>
              <a:pathLst>
                <a:path h="3485796" w="6543303">
                  <a:moveTo>
                    <a:pt x="0" y="0"/>
                  </a:moveTo>
                  <a:lnTo>
                    <a:pt x="6543302" y="0"/>
                  </a:lnTo>
                  <a:lnTo>
                    <a:pt x="6543302" y="3485796"/>
                  </a:lnTo>
                  <a:lnTo>
                    <a:pt x="0" y="34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59360" cy="1319815"/>
            </a:xfrm>
            <a:custGeom>
              <a:avLst/>
              <a:gdLst/>
              <a:ahLst/>
              <a:cxnLst/>
              <a:rect r="r" b="b" t="t" l="l"/>
              <a:pathLst>
                <a:path h="1319815" w="1359360">
                  <a:moveTo>
                    <a:pt x="0" y="0"/>
                  </a:moveTo>
                  <a:lnTo>
                    <a:pt x="1359360" y="0"/>
                  </a:lnTo>
                  <a:lnTo>
                    <a:pt x="1359360" y="1319815"/>
                  </a:lnTo>
                  <a:lnTo>
                    <a:pt x="0" y="13198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143430" y="1401180"/>
              <a:ext cx="7017787" cy="1044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08"/>
                </a:lnSpc>
              </a:pPr>
              <a:r>
                <a:rPr lang="en-US" b="true" sz="6127" spc="-208">
                  <a:solidFill>
                    <a:srgbClr val="000000"/>
                  </a:solidFill>
                  <a:latin typeface="Anonymous Pro Bold"/>
                  <a:ea typeface="Anonymous Pro Bold"/>
                  <a:cs typeface="Anonymous Pro Bold"/>
                  <a:sym typeface="Anonymous Pro Bold"/>
                </a:rPr>
                <a:t>ENTRADAS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86508" y="2874274"/>
            <a:ext cx="7994641" cy="92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10"/>
              </a:lnSpc>
            </a:pPr>
            <a:r>
              <a:rPr lang="en-US" sz="28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Las entradas son todos los elementos necesarios para iniciar un proceso.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84087" y="644177"/>
            <a:ext cx="5115100" cy="5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Timmerman Industries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44174" y="3960218"/>
            <a:ext cx="7994641" cy="3210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10"/>
              </a:lnSpc>
            </a:pPr>
            <a:r>
              <a:rPr lang="en-US" sz="28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Pueden ser:</a:t>
            </a:r>
          </a:p>
          <a:p>
            <a:pPr algn="just" marL="623638" indent="-311819" lvl="1">
              <a:lnSpc>
                <a:spcPts val="3610"/>
              </a:lnSpc>
              <a:buFont typeface="Arial"/>
              <a:buChar char="•"/>
            </a:pPr>
            <a:r>
              <a:rPr lang="en-US" sz="28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Datos o información</a:t>
            </a:r>
          </a:p>
          <a:p>
            <a:pPr algn="just" marL="623638" indent="-311819" lvl="1">
              <a:lnSpc>
                <a:spcPts val="3610"/>
              </a:lnSpc>
              <a:buFont typeface="Arial"/>
              <a:buChar char="•"/>
            </a:pPr>
            <a:r>
              <a:rPr lang="en-US" sz="28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Materiales</a:t>
            </a:r>
          </a:p>
          <a:p>
            <a:pPr algn="just" marL="623638" indent="-311819" lvl="1">
              <a:lnSpc>
                <a:spcPts val="3610"/>
              </a:lnSpc>
              <a:buFont typeface="Arial"/>
              <a:buChar char="•"/>
            </a:pPr>
            <a:r>
              <a:rPr lang="en-US" sz="28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Recursos humanos</a:t>
            </a:r>
          </a:p>
          <a:p>
            <a:pPr algn="just" marL="623638" indent="-311819" lvl="1">
              <a:lnSpc>
                <a:spcPts val="3610"/>
              </a:lnSpc>
              <a:buFont typeface="Arial"/>
              <a:buChar char="•"/>
            </a:pPr>
            <a:r>
              <a:rPr lang="en-US" sz="28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Recursos tecnológicos</a:t>
            </a:r>
          </a:p>
          <a:p>
            <a:pPr algn="just" marL="623638" indent="-311819" lvl="1">
              <a:lnSpc>
                <a:spcPts val="3610"/>
              </a:lnSpc>
              <a:buFont typeface="Arial"/>
              <a:buChar char="•"/>
            </a:pPr>
            <a:r>
              <a:rPr lang="en-US" sz="28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Documentos</a:t>
            </a:r>
          </a:p>
          <a:p>
            <a:pPr algn="just">
              <a:lnSpc>
                <a:spcPts val="3610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8186084" y="5560772"/>
            <a:ext cx="9692983" cy="3068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5"/>
              </a:lnSpc>
            </a:pPr>
            <a:r>
              <a:rPr lang="en-US" sz="27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Ejemplo:</a:t>
            </a:r>
          </a:p>
          <a:p>
            <a:pPr algn="just">
              <a:lnSpc>
                <a:spcPts val="3485"/>
              </a:lnSpc>
            </a:pPr>
            <a:r>
              <a:rPr lang="en-US" sz="27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Proceso: inscripción a un curso</a:t>
            </a:r>
          </a:p>
          <a:p>
            <a:pPr algn="just">
              <a:lnSpc>
                <a:spcPts val="3485"/>
              </a:lnSpc>
            </a:pPr>
            <a:r>
              <a:rPr lang="en-US" sz="27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Entradas:</a:t>
            </a:r>
          </a:p>
          <a:p>
            <a:pPr algn="just" marL="602048" indent="-301024" lvl="1">
              <a:lnSpc>
                <a:spcPts val="3485"/>
              </a:lnSpc>
              <a:buFont typeface="Arial"/>
              <a:buChar char="•"/>
            </a:pPr>
            <a:r>
              <a:rPr lang="en-US" sz="27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Datos del estudiante</a:t>
            </a:r>
          </a:p>
          <a:p>
            <a:pPr algn="just" marL="602048" indent="-301024" lvl="1">
              <a:lnSpc>
                <a:spcPts val="3485"/>
              </a:lnSpc>
              <a:buFont typeface="Arial"/>
              <a:buChar char="•"/>
            </a:pPr>
            <a:r>
              <a:rPr lang="en-US" sz="27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Formulario de inscripción</a:t>
            </a:r>
          </a:p>
          <a:p>
            <a:pPr algn="just" marL="602048" indent="-301024" lvl="1">
              <a:lnSpc>
                <a:spcPts val="3485"/>
              </a:lnSpc>
              <a:buFont typeface="Arial"/>
              <a:buChar char="•"/>
            </a:pPr>
            <a:r>
              <a:rPr lang="en-US" sz="27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Documento de identidad</a:t>
            </a:r>
          </a:p>
          <a:p>
            <a:pPr algn="just">
              <a:lnSpc>
                <a:spcPts val="348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523109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507224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4466591" y="7639571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95025" y="4334070"/>
            <a:ext cx="9721491" cy="469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1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Entradas (Inputs)</a:t>
            </a:r>
          </a:p>
          <a:p>
            <a:pPr algn="just" marL="539749" indent="-269875" lvl="1">
              <a:lnSpc>
                <a:spcPts val="31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Información o recursos que ingresan al proceso.</a:t>
            </a:r>
          </a:p>
          <a:p>
            <a:pPr algn="just" marL="539749" indent="-269875" lvl="1">
              <a:lnSpc>
                <a:spcPts val="31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Actividades o tareas</a:t>
            </a:r>
          </a:p>
          <a:p>
            <a:pPr algn="just" marL="539749" indent="-269875" lvl="1">
              <a:lnSpc>
                <a:spcPts val="31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Acciones que se realizan para transformar las entradas.</a:t>
            </a:r>
          </a:p>
          <a:p>
            <a:pPr algn="just" marL="539749" indent="-269875" lvl="1">
              <a:lnSpc>
                <a:spcPts val="31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Recursos</a:t>
            </a:r>
          </a:p>
          <a:p>
            <a:pPr algn="just" marL="539749" indent="-269875" lvl="1">
              <a:lnSpc>
                <a:spcPts val="31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Personas, herramientas o tecnología utilizada.</a:t>
            </a:r>
          </a:p>
          <a:p>
            <a:pPr algn="just" marL="539749" indent="-269875" lvl="1">
              <a:lnSpc>
                <a:spcPts val="31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Controles</a:t>
            </a:r>
          </a:p>
          <a:p>
            <a:pPr algn="just" marL="539749" indent="-269875" lvl="1">
              <a:lnSpc>
                <a:spcPts val="31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Reglas o normas que regulan el proceso.</a:t>
            </a:r>
          </a:p>
          <a:p>
            <a:pPr algn="just" marL="539749" indent="-269875" lvl="1">
              <a:lnSpc>
                <a:spcPts val="31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Salidas (Outputs)</a:t>
            </a:r>
          </a:p>
          <a:p>
            <a:pPr algn="just" marL="539749" indent="-269875" lvl="1">
              <a:lnSpc>
                <a:spcPts val="31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Resultados finales generados.</a:t>
            </a:r>
          </a:p>
          <a:p>
            <a:pPr algn="just">
              <a:lnSpc>
                <a:spcPts val="3124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5115100" cy="5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Timmerman Industries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10954" y="4557702"/>
            <a:ext cx="5901813" cy="235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0"/>
              </a:lnSpc>
            </a:pPr>
            <a:r>
              <a:rPr lang="en-US" sz="24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📌 Ejemplo:</a:t>
            </a:r>
          </a:p>
          <a:p>
            <a:pPr algn="just">
              <a:lnSpc>
                <a:spcPts val="3110"/>
              </a:lnSpc>
            </a:pPr>
            <a:r>
              <a:rPr lang="en-US" sz="24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Entrada → Pedido del cliente</a:t>
            </a:r>
          </a:p>
          <a:p>
            <a:pPr algn="just">
              <a:lnSpc>
                <a:spcPts val="3110"/>
              </a:lnSpc>
            </a:pPr>
            <a:r>
              <a:rPr lang="en-US" sz="24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Actividades → Verificar pedido, preparar producto</a:t>
            </a:r>
          </a:p>
          <a:p>
            <a:pPr algn="just">
              <a:lnSpc>
                <a:spcPts val="3110"/>
              </a:lnSpc>
            </a:pPr>
            <a:r>
              <a:rPr lang="en-US" sz="24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Salida → Producto entregado</a:t>
            </a:r>
          </a:p>
          <a:p>
            <a:pPr algn="just">
              <a:lnSpc>
                <a:spcPts val="3110"/>
              </a:lnSpc>
            </a:pPr>
          </a:p>
        </p:txBody>
      </p:sp>
      <p:grpSp>
        <p:nvGrpSpPr>
          <p:cNvPr name="Group 32" id="32"/>
          <p:cNvGrpSpPr/>
          <p:nvPr/>
        </p:nvGrpSpPr>
        <p:grpSpPr>
          <a:xfrm rot="0">
            <a:off x="5699188" y="2100216"/>
            <a:ext cx="7991116" cy="2262429"/>
            <a:chOff x="0" y="0"/>
            <a:chExt cx="10654821" cy="30165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901221" y="450740"/>
              <a:ext cx="9753600" cy="2110324"/>
            </a:xfrm>
            <a:custGeom>
              <a:avLst/>
              <a:gdLst/>
              <a:ahLst/>
              <a:cxnLst/>
              <a:rect r="r" b="b" t="t" l="l"/>
              <a:pathLst>
                <a:path h="21103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110324"/>
                  </a:lnTo>
                  <a:lnTo>
                    <a:pt x="0" y="2110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 rot="0">
              <a:off x="1144705" y="1131880"/>
              <a:ext cx="9266633" cy="918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71"/>
                </a:lnSpc>
              </a:pPr>
              <a:r>
                <a:rPr lang="en-US" b="true" sz="5378" spc="-182">
                  <a:solidFill>
                    <a:srgbClr val="000000"/>
                  </a:solidFill>
                  <a:latin typeface="Anonymous Pro Bold"/>
                  <a:ea typeface="Anonymous Pro Bold"/>
                  <a:cs typeface="Anonymous Pro Bold"/>
                  <a:sym typeface="Anonymous Pro Bold"/>
                </a:rPr>
                <a:t>COMPONENTES</a:t>
              </a:r>
            </a:p>
          </p:txBody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55592" cy="1510338"/>
            </a:xfrm>
            <a:custGeom>
              <a:avLst/>
              <a:gdLst/>
              <a:ahLst/>
              <a:cxnLst/>
              <a:rect r="r" b="b" t="t" l="l"/>
              <a:pathLst>
                <a:path h="1510338" w="1555592">
                  <a:moveTo>
                    <a:pt x="0" y="0"/>
                  </a:moveTo>
                  <a:lnTo>
                    <a:pt x="1555592" y="0"/>
                  </a:lnTo>
                  <a:lnTo>
                    <a:pt x="1555592" y="1510338"/>
                  </a:lnTo>
                  <a:lnTo>
                    <a:pt x="0" y="1510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901221" y="2513439"/>
              <a:ext cx="9753600" cy="50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 proceso normalmente está formado por: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523109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508196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7401905" y="850535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0" y="2100216"/>
            <a:ext cx="7843942" cy="1920798"/>
            <a:chOff x="0" y="0"/>
            <a:chExt cx="10458589" cy="25610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704989" y="450740"/>
              <a:ext cx="9753600" cy="2110324"/>
            </a:xfrm>
            <a:custGeom>
              <a:avLst/>
              <a:gdLst/>
              <a:ahLst/>
              <a:cxnLst/>
              <a:rect r="r" b="b" t="t" l="l"/>
              <a:pathLst>
                <a:path h="21103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110324"/>
                  </a:lnTo>
                  <a:lnTo>
                    <a:pt x="0" y="2110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 rot="0">
              <a:off x="948473" y="821832"/>
              <a:ext cx="9266633" cy="1680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71"/>
                </a:lnSpc>
              </a:pPr>
              <a:r>
                <a:rPr lang="en-US" b="true" sz="5378" spc="-182">
                  <a:solidFill>
                    <a:srgbClr val="000000"/>
                  </a:solidFill>
                  <a:latin typeface="Anonymous Pro Bold"/>
                  <a:ea typeface="Anonymous Pro Bold"/>
                  <a:cs typeface="Anonymous Pro Bold"/>
                  <a:sym typeface="Anonymous Pro Bold"/>
                </a:rPr>
                <a:t>REPRESENTACION GRAFICA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59360" cy="1319815"/>
            </a:xfrm>
            <a:custGeom>
              <a:avLst/>
              <a:gdLst/>
              <a:ahLst/>
              <a:cxnLst/>
              <a:rect r="r" b="b" t="t" l="l"/>
              <a:pathLst>
                <a:path h="1319815" w="1359360">
                  <a:moveTo>
                    <a:pt x="0" y="0"/>
                  </a:moveTo>
                  <a:lnTo>
                    <a:pt x="1359360" y="0"/>
                  </a:lnTo>
                  <a:lnTo>
                    <a:pt x="1359360" y="1319815"/>
                  </a:lnTo>
                  <a:lnTo>
                    <a:pt x="0" y="13198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15925762" y="6538079"/>
            <a:ext cx="1628382" cy="2537139"/>
          </a:xfrm>
          <a:custGeom>
            <a:avLst/>
            <a:gdLst/>
            <a:ahLst/>
            <a:cxnLst/>
            <a:rect r="r" b="b" t="t" l="l"/>
            <a:pathLst>
              <a:path h="2537139" w="1628382">
                <a:moveTo>
                  <a:pt x="0" y="0"/>
                </a:moveTo>
                <a:lnTo>
                  <a:pt x="1628382" y="0"/>
                </a:lnTo>
                <a:lnTo>
                  <a:pt x="1628382" y="2537140"/>
                </a:lnTo>
                <a:lnTo>
                  <a:pt x="0" y="253714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703090" y="1732185"/>
            <a:ext cx="5222672" cy="7126771"/>
          </a:xfrm>
          <a:custGeom>
            <a:avLst/>
            <a:gdLst/>
            <a:ahLst/>
            <a:cxnLst/>
            <a:rect r="r" b="b" t="t" l="l"/>
            <a:pathLst>
              <a:path h="7126771" w="5222672">
                <a:moveTo>
                  <a:pt x="0" y="0"/>
                </a:moveTo>
                <a:lnTo>
                  <a:pt x="5222672" y="0"/>
                </a:lnTo>
                <a:lnTo>
                  <a:pt x="5222672" y="7126770"/>
                </a:lnTo>
                <a:lnTo>
                  <a:pt x="0" y="712677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584087" y="4449640"/>
            <a:ext cx="7315200" cy="451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5"/>
              </a:lnSpc>
            </a:pPr>
            <a:r>
              <a:rPr lang="en-US" sz="25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Muestran paso a paso el proceso utilizando símbolos.</a:t>
            </a:r>
          </a:p>
          <a:p>
            <a:pPr algn="just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sz="25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Óvalo → inicio o fin</a:t>
            </a:r>
          </a:p>
          <a:p>
            <a:pPr algn="just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sz="25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Rectángulo → proceso</a:t>
            </a:r>
          </a:p>
          <a:p>
            <a:pPr algn="just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sz="25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Rombo → decisión</a:t>
            </a:r>
          </a:p>
          <a:p>
            <a:pPr algn="just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sz="25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Flechas → flujo del proceso</a:t>
            </a:r>
          </a:p>
          <a:p>
            <a:pPr algn="just">
              <a:lnSpc>
                <a:spcPts val="3235"/>
              </a:lnSpc>
            </a:pPr>
            <a:r>
              <a:rPr lang="en-US" sz="25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2. Mapas de procesos</a:t>
            </a:r>
          </a:p>
          <a:p>
            <a:pPr algn="just">
              <a:lnSpc>
                <a:spcPts val="3235"/>
              </a:lnSpc>
            </a:pPr>
            <a:r>
              <a:rPr lang="en-US" sz="25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Representan cómo se relacionan varios procesos dentro de una organización.</a:t>
            </a:r>
          </a:p>
          <a:p>
            <a:pPr algn="just">
              <a:lnSpc>
                <a:spcPts val="3235"/>
              </a:lnSpc>
            </a:pPr>
          </a:p>
          <a:p>
            <a:pPr algn="just">
              <a:lnSpc>
                <a:spcPts val="3235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584087" y="644177"/>
            <a:ext cx="5115100" cy="5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Timmerman Industries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523109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717813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-64421" y="2053089"/>
            <a:ext cx="5763609" cy="2962746"/>
            <a:chOff x="0" y="0"/>
            <a:chExt cx="7684812" cy="395032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58883" y="207423"/>
              <a:ext cx="7025929" cy="3742904"/>
            </a:xfrm>
            <a:custGeom>
              <a:avLst/>
              <a:gdLst/>
              <a:ahLst/>
              <a:cxnLst/>
              <a:rect r="r" b="b" t="t" l="l"/>
              <a:pathLst>
                <a:path h="3742904" w="7025929">
                  <a:moveTo>
                    <a:pt x="0" y="0"/>
                  </a:moveTo>
                  <a:lnTo>
                    <a:pt x="7025929" y="0"/>
                  </a:lnTo>
                  <a:lnTo>
                    <a:pt x="7025929" y="3742904"/>
                  </a:lnTo>
                  <a:lnTo>
                    <a:pt x="0" y="3742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821110" y="1431287"/>
              <a:ext cx="6701474" cy="918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71"/>
                </a:lnSpc>
              </a:pPr>
              <a:r>
                <a:rPr lang="en-US" b="true" sz="5378" spc="-182">
                  <a:solidFill>
                    <a:srgbClr val="000000"/>
                  </a:solidFill>
                  <a:latin typeface="Anonymous Pro Bold"/>
                  <a:ea typeface="Anonymous Pro Bold"/>
                  <a:cs typeface="Anonymous Pro Bold"/>
                  <a:sym typeface="Anonymous Pro Bold"/>
                </a:rPr>
                <a:t>PROCEDIMIENTOS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59360" cy="1319815"/>
            </a:xfrm>
            <a:custGeom>
              <a:avLst/>
              <a:gdLst/>
              <a:ahLst/>
              <a:cxnLst/>
              <a:rect r="r" b="b" t="t" l="l"/>
              <a:pathLst>
                <a:path h="1319815" w="1359360">
                  <a:moveTo>
                    <a:pt x="0" y="0"/>
                  </a:moveTo>
                  <a:lnTo>
                    <a:pt x="1359360" y="0"/>
                  </a:lnTo>
                  <a:lnTo>
                    <a:pt x="1359360" y="1319815"/>
                  </a:lnTo>
                  <a:lnTo>
                    <a:pt x="0" y="13198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584087" y="5124205"/>
            <a:ext cx="4759816" cy="891384"/>
          </a:xfrm>
          <a:custGeom>
            <a:avLst/>
            <a:gdLst/>
            <a:ahLst/>
            <a:cxnLst/>
            <a:rect r="r" b="b" t="t" l="l"/>
            <a:pathLst>
              <a:path h="891384" w="4759816">
                <a:moveTo>
                  <a:pt x="0" y="0"/>
                </a:moveTo>
                <a:lnTo>
                  <a:pt x="4759816" y="0"/>
                </a:lnTo>
                <a:lnTo>
                  <a:pt x="4759816" y="891384"/>
                </a:lnTo>
                <a:lnTo>
                  <a:pt x="0" y="8913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0" id="30"/>
          <p:cNvGraphicFramePr>
            <a:graphicFrameLocks noGrp="true"/>
          </p:cNvGraphicFramePr>
          <p:nvPr/>
        </p:nvGraphicFramePr>
        <p:xfrm>
          <a:off x="5835807" y="3218674"/>
          <a:ext cx="7315200" cy="5520937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9207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Proceso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Procedimiento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4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Es un conjunto de actividades relacionadas que transforman entradas en resultados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Es la forma específica y detallada de realizar esas actividades.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10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Busca lograr un objetivo o resultado.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Busca indicar cómo hacer correctamente una tarea.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97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 enfoca en qué se hace y para qué.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 enfoca en cómo se hace paso a paso.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1" id="31"/>
          <p:cNvSpPr txBox="true"/>
          <p:nvPr/>
        </p:nvSpPr>
        <p:spPr>
          <a:xfrm rot="0">
            <a:off x="4987502" y="2471842"/>
            <a:ext cx="3148743" cy="74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📌 Diferencia importante: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84087" y="644177"/>
            <a:ext cx="5115100" cy="5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Timmerman Industries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14119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874963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029882" y="1621504"/>
            <a:ext cx="11099209" cy="831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5"/>
              </a:lnSpc>
            </a:pPr>
            <a:r>
              <a:rPr lang="en-US" sz="25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Un procedimiento es la forma específica y detallada de realizar un proceso o una actividad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102184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675946" y="2666230"/>
            <a:ext cx="8046484" cy="1740967"/>
          </a:xfrm>
          <a:custGeom>
            <a:avLst/>
            <a:gdLst/>
            <a:ahLst/>
            <a:cxnLst/>
            <a:rect r="r" b="b" t="t" l="l"/>
            <a:pathLst>
              <a:path h="1740967" w="8046484">
                <a:moveTo>
                  <a:pt x="0" y="0"/>
                </a:moveTo>
                <a:lnTo>
                  <a:pt x="8046484" y="0"/>
                </a:lnTo>
                <a:lnTo>
                  <a:pt x="8046484" y="1740967"/>
                </a:lnTo>
                <a:lnTo>
                  <a:pt x="0" y="17409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1824014" y="2870842"/>
            <a:ext cx="7750347" cy="133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8"/>
              </a:lnSpc>
            </a:pPr>
            <a:r>
              <a:rPr lang="en-US" b="true" sz="5916" spc="-20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MODELO DE PROCESOS DE NEGOCIOS (BPM)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28700" y="2361170"/>
            <a:ext cx="1121439" cy="1088815"/>
          </a:xfrm>
          <a:custGeom>
            <a:avLst/>
            <a:gdLst/>
            <a:ahLst/>
            <a:cxnLst/>
            <a:rect r="r" b="b" t="t" l="l"/>
            <a:pathLst>
              <a:path h="1088815" w="1121439">
                <a:moveTo>
                  <a:pt x="0" y="0"/>
                </a:moveTo>
                <a:lnTo>
                  <a:pt x="1121439" y="0"/>
                </a:lnTo>
                <a:lnTo>
                  <a:pt x="1121439" y="1088815"/>
                </a:lnTo>
                <a:lnTo>
                  <a:pt x="0" y="10888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7401905" y="710852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141637" y="5656792"/>
            <a:ext cx="9665272" cy="196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4"/>
              </a:lnSpc>
            </a:pPr>
            <a:r>
              <a:rPr lang="en-US" sz="3131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El BPM (Business Process Management) es una metodología que permite analizar, diseñar, mejorar y automatizar los procesos de una empresa.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5115100" cy="5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Timmerman Industries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886058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834163" y="7374219"/>
            <a:ext cx="2558783" cy="553628"/>
          </a:xfrm>
          <a:custGeom>
            <a:avLst/>
            <a:gdLst/>
            <a:ahLst/>
            <a:cxnLst/>
            <a:rect r="r" b="b" t="t" l="l"/>
            <a:pathLst>
              <a:path h="553628" w="2558783">
                <a:moveTo>
                  <a:pt x="0" y="0"/>
                </a:moveTo>
                <a:lnTo>
                  <a:pt x="2558783" y="0"/>
                </a:lnTo>
                <a:lnTo>
                  <a:pt x="2558783" y="553628"/>
                </a:lnTo>
                <a:lnTo>
                  <a:pt x="0" y="5536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3884679" y="3627641"/>
            <a:ext cx="10211437" cy="3499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99"/>
              </a:lnSpc>
            </a:pPr>
            <a:r>
              <a:rPr lang="en-US" b="true" sz="13499" spc="-458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MUCHAS GRACIAS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5115100" cy="5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Timmerman Industries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Contact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738042" y="7527005"/>
            <a:ext cx="2751025" cy="22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5"/>
              </a:lnSpc>
            </a:pPr>
            <a:r>
              <a:rPr lang="en-US" sz="142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reallygreatsite.com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7713000" y="7374219"/>
            <a:ext cx="2558783" cy="553628"/>
          </a:xfrm>
          <a:custGeom>
            <a:avLst/>
            <a:gdLst/>
            <a:ahLst/>
            <a:cxnLst/>
            <a:rect r="r" b="b" t="t" l="l"/>
            <a:pathLst>
              <a:path h="553628" w="2558783">
                <a:moveTo>
                  <a:pt x="0" y="0"/>
                </a:moveTo>
                <a:lnTo>
                  <a:pt x="2558783" y="0"/>
                </a:lnTo>
                <a:lnTo>
                  <a:pt x="2558783" y="553628"/>
                </a:lnTo>
                <a:lnTo>
                  <a:pt x="0" y="5536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3" id="33"/>
          <p:cNvSpPr txBox="true"/>
          <p:nvPr/>
        </p:nvSpPr>
        <p:spPr>
          <a:xfrm rot="0">
            <a:off x="7616879" y="7527005"/>
            <a:ext cx="2751025" cy="22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5"/>
              </a:lnSpc>
            </a:pPr>
            <a:r>
              <a:rPr lang="en-US" sz="142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@reallygreatsite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0587850" y="7374219"/>
            <a:ext cx="2558783" cy="553628"/>
          </a:xfrm>
          <a:custGeom>
            <a:avLst/>
            <a:gdLst/>
            <a:ahLst/>
            <a:cxnLst/>
            <a:rect r="r" b="b" t="t" l="l"/>
            <a:pathLst>
              <a:path h="553628" w="2558783">
                <a:moveTo>
                  <a:pt x="0" y="0"/>
                </a:moveTo>
                <a:lnTo>
                  <a:pt x="2558783" y="0"/>
                </a:lnTo>
                <a:lnTo>
                  <a:pt x="2558783" y="553628"/>
                </a:lnTo>
                <a:lnTo>
                  <a:pt x="0" y="5536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5" id="35"/>
          <p:cNvSpPr txBox="true"/>
          <p:nvPr/>
        </p:nvSpPr>
        <p:spPr>
          <a:xfrm rot="0">
            <a:off x="10491729" y="7527005"/>
            <a:ext cx="2751025" cy="22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5"/>
              </a:lnSpc>
            </a:pPr>
            <a:r>
              <a:rPr lang="en-US" sz="142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123-456-7890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2917337" y="7546055"/>
            <a:ext cx="523211" cy="890917"/>
          </a:xfrm>
          <a:custGeom>
            <a:avLst/>
            <a:gdLst/>
            <a:ahLst/>
            <a:cxnLst/>
            <a:rect r="r" b="b" t="t" l="l"/>
            <a:pathLst>
              <a:path h="890917" w="523211">
                <a:moveTo>
                  <a:pt x="0" y="0"/>
                </a:moveTo>
                <a:lnTo>
                  <a:pt x="523211" y="0"/>
                </a:lnTo>
                <a:lnTo>
                  <a:pt x="523211" y="890917"/>
                </a:lnTo>
                <a:lnTo>
                  <a:pt x="0" y="890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DAHD7_3Mn-c</dc:identifier>
  <dcterms:modified xsi:type="dcterms:W3CDTF">2011-08-01T06:04:30Z</dcterms:modified>
  <cp:revision>1</cp:revision>
  <dc:title>Blue Modern Technology YouTube Intro</dc:title>
</cp:coreProperties>
</file>